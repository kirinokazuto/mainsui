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C000"/>
    <a:srgbClr val="E27878"/>
    <a:srgbClr val="FF8585"/>
    <a:srgbClr val="9EE6C5"/>
    <a:srgbClr val="E67AA1"/>
    <a:srgbClr val="A3E987"/>
    <a:srgbClr val="8DE9F3"/>
    <a:srgbClr val="C4A6CE"/>
    <a:srgbClr val="D9C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66" autoAdjust="0"/>
  </p:normalViewPr>
  <p:slideViewPr>
    <p:cSldViewPr snapToGrid="0">
      <p:cViewPr varScale="1">
        <p:scale>
          <a:sx n="110" d="100"/>
          <a:sy n="110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850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889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523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5173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0718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13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0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369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77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3031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01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22808-8FA6-4498-A74E-5861B13E14F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C21B0-754C-4AB4-88A8-3D284C4F8D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4201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 rotWithShape="1">
          <a:blip r:embed="rId2"/>
          <a:srcRect l="13657" t="30954" r="24686"/>
          <a:stretch/>
        </p:blipFill>
        <p:spPr>
          <a:xfrm>
            <a:off x="7222473" y="1819922"/>
            <a:ext cx="4575950" cy="4613078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260776" y="255295"/>
            <a:ext cx="11465511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b="1" dirty="0" smtClean="0"/>
              <a:t>マインスイーパー　C or C++</a:t>
            </a:r>
          </a:p>
          <a:p>
            <a:endParaRPr lang="ja-JP" altLang="en-US" dirty="0" smtClean="0"/>
          </a:p>
          <a:p>
            <a:r>
              <a:rPr lang="ja-JP" altLang="en-US" dirty="0" smtClean="0"/>
              <a:t>【ルール】</a:t>
            </a:r>
          </a:p>
          <a:p>
            <a:r>
              <a:rPr lang="ja-JP" altLang="en-US" dirty="0" smtClean="0"/>
              <a:t>・地雷以外のマスを全てめくったらクリア</a:t>
            </a:r>
          </a:p>
          <a:p>
            <a:r>
              <a:rPr lang="ja-JP" altLang="en-US" dirty="0"/>
              <a:t>・地雷のマスをめくったら即</a:t>
            </a:r>
            <a:r>
              <a:rPr lang="ja-JP" altLang="en-US" dirty="0" smtClean="0"/>
              <a:t>ゲームオーバー</a:t>
            </a:r>
            <a:endParaRPr lang="en-US" altLang="ja-JP" dirty="0" smtClean="0"/>
          </a:p>
          <a:p>
            <a:r>
              <a:rPr lang="ja-JP" altLang="en-US" dirty="0" smtClean="0"/>
              <a:t>・数字は、周囲8マスの地雷の数を示している</a:t>
            </a:r>
          </a:p>
          <a:p>
            <a:r>
              <a:rPr lang="ja-JP" altLang="en-US" dirty="0" smtClean="0"/>
              <a:t>・旗は全て置く必要はない</a:t>
            </a:r>
          </a:p>
          <a:p>
            <a:r>
              <a:rPr lang="ja-JP" altLang="en-US" dirty="0" smtClean="0"/>
              <a:t>・最初にクリックしたところと周囲8マスは地雷を置かない</a:t>
            </a:r>
          </a:p>
          <a:p>
            <a:r>
              <a:rPr lang="ja-JP" altLang="en-US" dirty="0" smtClean="0"/>
              <a:t>・何もないマスをクリックした時、周囲の数字が書かれている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マスまで自動でめくられるようにする</a:t>
            </a:r>
          </a:p>
          <a:p>
            <a:endParaRPr lang="en-US" altLang="ja-JP" dirty="0" smtClean="0"/>
          </a:p>
          <a:p>
            <a:r>
              <a:rPr lang="ja-JP" altLang="en-US" dirty="0"/>
              <a:t>・地雷の数</a:t>
            </a:r>
            <a:r>
              <a:rPr lang="ja-JP" altLang="en-US" dirty="0" smtClean="0"/>
              <a:t>は</a:t>
            </a:r>
            <a:r>
              <a:rPr lang="en-US" altLang="ja-JP" dirty="0" smtClean="0"/>
              <a:t>3</a:t>
            </a:r>
            <a:r>
              <a:rPr lang="ja-JP" altLang="en-US" dirty="0" smtClean="0"/>
              <a:t>0個</a:t>
            </a:r>
            <a:endParaRPr lang="ja-JP" altLang="en-US" dirty="0"/>
          </a:p>
          <a:p>
            <a:r>
              <a:rPr lang="ja-JP" altLang="en-US" dirty="0"/>
              <a:t>・地雷の場所はランダム</a:t>
            </a:r>
          </a:p>
          <a:p>
            <a:endParaRPr lang="ja-JP" altLang="en-US" dirty="0" smtClean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21" y="3298214"/>
            <a:ext cx="3388102" cy="3134785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943445" y="5509669"/>
            <a:ext cx="277497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ゲーム画面全体の</a:t>
            </a:r>
            <a:r>
              <a:rPr kumimoji="1" lang="ja-JP" altLang="en-US" dirty="0" smtClean="0"/>
              <a:t>見本</a:t>
            </a:r>
            <a:endParaRPr kumimoji="1" lang="en-US" altLang="ja-JP" dirty="0" smtClean="0"/>
          </a:p>
          <a:p>
            <a:r>
              <a:rPr lang="en-US" altLang="ja-JP" dirty="0" smtClean="0"/>
              <a:t>※</a:t>
            </a:r>
            <a:r>
              <a:rPr lang="ja-JP" altLang="en-US" dirty="0" smtClean="0"/>
              <a:t>地雷の数が</a:t>
            </a:r>
            <a:r>
              <a:rPr lang="en-US" altLang="ja-JP" dirty="0" smtClean="0"/>
              <a:t>30</a:t>
            </a:r>
            <a:r>
              <a:rPr lang="ja-JP" altLang="en-US" dirty="0" smtClean="0"/>
              <a:t>個なので、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旗の数は</a:t>
            </a:r>
            <a:r>
              <a:rPr lang="en-US" altLang="ja-JP" dirty="0" smtClean="0"/>
              <a:t>『30』</a:t>
            </a:r>
            <a:r>
              <a:rPr lang="ja-JP" altLang="en-US" dirty="0" smtClean="0"/>
              <a:t>です</a:t>
            </a:r>
            <a:endParaRPr kumimoji="1" lang="ja-JP" altLang="en-US" dirty="0"/>
          </a:p>
        </p:txBody>
      </p:sp>
      <p:sp>
        <p:nvSpPr>
          <p:cNvPr id="8" name="左矢印 7"/>
          <p:cNvSpPr/>
          <p:nvPr/>
        </p:nvSpPr>
        <p:spPr>
          <a:xfrm rot="2601192">
            <a:off x="9021480" y="4213852"/>
            <a:ext cx="337351" cy="208189"/>
          </a:xfrm>
          <a:prstGeom prst="leftArrow">
            <a:avLst>
              <a:gd name="adj1" fmla="val 18135"/>
              <a:gd name="adj2" fmla="val 9554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8569588" y="3745706"/>
            <a:ext cx="917128" cy="913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9028152" y="4477134"/>
            <a:ext cx="1620798" cy="190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solidFill>
                  <a:sysClr val="windowText" lastClr="000000"/>
                </a:solidFill>
              </a:rPr>
              <a:t>最初のクリック場所</a:t>
            </a:r>
            <a:endParaRPr kumimoji="1" lang="ja-JP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7312288" y="3387046"/>
            <a:ext cx="2514599" cy="257175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ysClr val="windowText" lastClr="000000"/>
                </a:solidFill>
              </a:rPr>
              <a:t>周囲</a:t>
            </a:r>
            <a:r>
              <a:rPr kumimoji="1" lang="en-US" altLang="ja-JP" sz="1400" dirty="0" smtClean="0">
                <a:solidFill>
                  <a:sysClr val="windowText" lastClr="000000"/>
                </a:solidFill>
              </a:rPr>
              <a:t>8</a:t>
            </a:r>
            <a:r>
              <a:rPr kumimoji="1" lang="ja-JP" altLang="en-US" sz="1400" dirty="0" smtClean="0">
                <a:solidFill>
                  <a:sysClr val="windowText" lastClr="000000"/>
                </a:solidFill>
              </a:rPr>
              <a:t>マスに地雷を置かない</a:t>
            </a:r>
            <a:endParaRPr kumimoji="1" lang="ja-JP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260776" y="412646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ja-JP" altLang="en-US" dirty="0"/>
              <a:t>・ウィンドウの上部には</a:t>
            </a:r>
            <a:r>
              <a:rPr lang="ja-JP" altLang="en-US" dirty="0" smtClean="0"/>
              <a:t>、</a:t>
            </a:r>
            <a:endParaRPr lang="en-US" altLang="ja-JP" dirty="0"/>
          </a:p>
          <a:p>
            <a:r>
              <a:rPr lang="ja-JP" altLang="en-US" dirty="0" smtClean="0"/>
              <a:t>　旗</a:t>
            </a:r>
            <a:r>
              <a:rPr lang="ja-JP" altLang="en-US" dirty="0"/>
              <a:t>の数と経過時間を常に表示</a:t>
            </a:r>
          </a:p>
          <a:p>
            <a:r>
              <a:rPr lang="ja-JP" altLang="en-US" dirty="0"/>
              <a:t>　(経過時間は最初の</a:t>
            </a:r>
            <a:r>
              <a:rPr lang="ja-JP" altLang="en-US" dirty="0" smtClean="0"/>
              <a:t>クリック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から</a:t>
            </a:r>
            <a:r>
              <a:rPr lang="ja-JP" altLang="en-US" dirty="0"/>
              <a:t>スタートさせる)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6959284" y="578618"/>
            <a:ext cx="629038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400" dirty="0" smtClean="0"/>
              <a:t>【</a:t>
            </a:r>
            <a:r>
              <a:rPr lang="ja-JP" altLang="en-US" sz="1400" dirty="0"/>
              <a:t>操作】</a:t>
            </a:r>
          </a:p>
          <a:p>
            <a:r>
              <a:rPr lang="ja-JP" altLang="en-US" sz="1400" dirty="0"/>
              <a:t>左クリック：カーソルが指すマスをめくる</a:t>
            </a:r>
          </a:p>
          <a:p>
            <a:r>
              <a:rPr lang="ja-JP" altLang="en-US" sz="1400" dirty="0"/>
              <a:t>右クリック：旗を置く</a:t>
            </a:r>
          </a:p>
          <a:p>
            <a:r>
              <a:rPr lang="ja-JP" altLang="en-US" sz="1400" dirty="0"/>
              <a:t>ゲームオーバーorクリアの時点でRキーを押すとリトライ</a:t>
            </a:r>
          </a:p>
        </p:txBody>
      </p:sp>
    </p:spTree>
    <p:extLst>
      <p:ext uri="{BB962C8B-B14F-4D97-AF65-F5344CB8AC3E}">
        <p14:creationId xmlns:p14="http://schemas.microsoft.com/office/powerpoint/2010/main" val="327535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147" y="2812394"/>
            <a:ext cx="3762653" cy="348133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700" y="2809875"/>
            <a:ext cx="3762287" cy="3480994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48" y="2809875"/>
            <a:ext cx="3765375" cy="3483852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203626" y="456193"/>
            <a:ext cx="115311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b="1" dirty="0" smtClean="0"/>
              <a:t>【</a:t>
            </a:r>
            <a:r>
              <a:rPr lang="ja-JP" altLang="en-US" b="1" dirty="0" smtClean="0"/>
              <a:t>クリア画面、ゲームオーバー画面、スタート前の画面の見本</a:t>
            </a:r>
            <a:r>
              <a:rPr lang="en-US" altLang="ja-JP" b="1" dirty="0" smtClean="0"/>
              <a:t>】</a:t>
            </a:r>
          </a:p>
          <a:p>
            <a:r>
              <a:rPr lang="ja-JP" altLang="en-US" dirty="0" smtClean="0"/>
              <a:t>・地雷の数</a:t>
            </a:r>
            <a:r>
              <a:rPr lang="ja-JP" altLang="en-US" dirty="0" smtClean="0"/>
              <a:t>が</a:t>
            </a:r>
            <a:r>
              <a:rPr lang="en-US" altLang="ja-JP" dirty="0"/>
              <a:t>3</a:t>
            </a:r>
            <a:r>
              <a:rPr lang="en-US" altLang="ja-JP" dirty="0" smtClean="0"/>
              <a:t>0</a:t>
            </a:r>
            <a:r>
              <a:rPr lang="ja-JP" altLang="en-US" dirty="0" smtClean="0"/>
              <a:t>個なので、旗の横に</a:t>
            </a:r>
            <a:r>
              <a:rPr lang="en-US" altLang="ja-JP" dirty="0" smtClean="0"/>
              <a:t>『</a:t>
            </a:r>
            <a:r>
              <a:rPr lang="en-US" altLang="ja-JP" dirty="0"/>
              <a:t>30</a:t>
            </a:r>
            <a:r>
              <a:rPr lang="en-US" altLang="ja-JP" dirty="0" smtClean="0"/>
              <a:t>』</a:t>
            </a:r>
            <a:r>
              <a:rPr lang="ja-JP" altLang="en-US" dirty="0" smtClean="0"/>
              <a:t>と記載があるが、</a:t>
            </a:r>
            <a:r>
              <a:rPr lang="ja-JP" altLang="en-US" dirty="0" smtClean="0">
                <a:solidFill>
                  <a:srgbClr val="FF0000"/>
                </a:solidFill>
              </a:rPr>
              <a:t>旗</a:t>
            </a:r>
            <a:r>
              <a:rPr lang="ja-JP" altLang="en-US" dirty="0" smtClean="0">
                <a:solidFill>
                  <a:srgbClr val="FF0000"/>
                </a:solidFill>
              </a:rPr>
              <a:t>は</a:t>
            </a:r>
            <a:r>
              <a:rPr lang="en-US" altLang="ja-JP" dirty="0">
                <a:solidFill>
                  <a:srgbClr val="FF0000"/>
                </a:solidFill>
              </a:rPr>
              <a:t>30</a:t>
            </a:r>
            <a:r>
              <a:rPr lang="ja-JP" altLang="en-US" dirty="0" smtClean="0">
                <a:solidFill>
                  <a:srgbClr val="FF0000"/>
                </a:solidFill>
              </a:rPr>
              <a:t>個</a:t>
            </a:r>
            <a:r>
              <a:rPr lang="ja-JP" altLang="en-US" dirty="0" smtClean="0">
                <a:solidFill>
                  <a:srgbClr val="FF0000"/>
                </a:solidFill>
              </a:rPr>
              <a:t>以上置くことができる</a:t>
            </a:r>
            <a:endParaRPr lang="en-US" altLang="ja-JP" dirty="0" smtClean="0">
              <a:solidFill>
                <a:srgbClr val="FF0000"/>
              </a:solidFill>
            </a:endParaRPr>
          </a:p>
          <a:p>
            <a:r>
              <a:rPr lang="ja-JP" altLang="en-US" dirty="0" smtClean="0"/>
              <a:t>・</a:t>
            </a:r>
            <a:r>
              <a:rPr lang="en-US" altLang="ja-JP" dirty="0"/>
              <a:t>3</a:t>
            </a:r>
            <a:r>
              <a:rPr lang="en-US" altLang="ja-JP" dirty="0" smtClean="0"/>
              <a:t>0</a:t>
            </a:r>
            <a:r>
              <a:rPr lang="ja-JP" altLang="en-US" dirty="0" smtClean="0"/>
              <a:t>個以上置いた場合、旗の横の数字は</a:t>
            </a:r>
            <a:r>
              <a:rPr lang="en-US" altLang="ja-JP" dirty="0" smtClean="0"/>
              <a:t>『-1』</a:t>
            </a:r>
            <a:r>
              <a:rPr lang="ja-JP" altLang="en-US" dirty="0" smtClean="0"/>
              <a:t>のように、マイナス方向に増えていく</a:t>
            </a:r>
            <a:endParaRPr lang="en-US" altLang="ja-JP" dirty="0" smtClean="0"/>
          </a:p>
          <a:p>
            <a:r>
              <a:rPr lang="ja-JP" altLang="en-US" dirty="0" smtClean="0"/>
              <a:t>・旗を置いた場所は左クリックしてもめくれない</a:t>
            </a:r>
            <a:endParaRPr lang="en-US" altLang="ja-JP" dirty="0" smtClean="0"/>
          </a:p>
          <a:p>
            <a:r>
              <a:rPr lang="ja-JP" altLang="en-US" dirty="0" smtClean="0"/>
              <a:t>・マップサイズは</a:t>
            </a:r>
            <a:r>
              <a:rPr lang="ja-JP" altLang="en-US" dirty="0" smtClean="0">
                <a:solidFill>
                  <a:srgbClr val="FF0000"/>
                </a:solidFill>
              </a:rPr>
              <a:t>横</a:t>
            </a:r>
            <a:r>
              <a:rPr lang="en-US" altLang="ja-JP" dirty="0">
                <a:solidFill>
                  <a:srgbClr val="FF0000"/>
                </a:solidFill>
              </a:rPr>
              <a:t>15</a:t>
            </a:r>
            <a:r>
              <a:rPr lang="ja-JP" altLang="en-US" dirty="0" smtClean="0">
                <a:solidFill>
                  <a:srgbClr val="FF0000"/>
                </a:solidFill>
              </a:rPr>
              <a:t>マス</a:t>
            </a:r>
            <a:r>
              <a:rPr lang="en-US" altLang="ja-JP" dirty="0" smtClean="0">
                <a:solidFill>
                  <a:srgbClr val="FF0000"/>
                </a:solidFill>
              </a:rPr>
              <a:t>×</a:t>
            </a:r>
            <a:r>
              <a:rPr lang="ja-JP" altLang="en-US" dirty="0" smtClean="0">
                <a:solidFill>
                  <a:srgbClr val="FF0000"/>
                </a:solidFill>
              </a:rPr>
              <a:t>縦</a:t>
            </a:r>
            <a:r>
              <a:rPr lang="en-US" altLang="ja-JP" dirty="0">
                <a:solidFill>
                  <a:srgbClr val="FF0000"/>
                </a:solidFill>
              </a:rPr>
              <a:t>12</a:t>
            </a:r>
            <a:r>
              <a:rPr lang="ja-JP" altLang="en-US" dirty="0" smtClean="0">
                <a:solidFill>
                  <a:srgbClr val="FF0000"/>
                </a:solidFill>
              </a:rPr>
              <a:t>マス</a:t>
            </a:r>
            <a:endParaRPr lang="en-US" altLang="ja-JP" dirty="0" smtClean="0">
              <a:solidFill>
                <a:srgbClr val="FF0000"/>
              </a:solidFill>
            </a:endParaRPr>
          </a:p>
          <a:p>
            <a:r>
              <a:rPr lang="ja-JP" altLang="en-US" dirty="0" smtClean="0"/>
              <a:t>・クリア後＆ゲームオーバー後に左クリックでウィンドウを閉じる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07927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30259" y="403943"/>
            <a:ext cx="1132846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b="1" dirty="0" smtClean="0"/>
              <a:t>【</a:t>
            </a:r>
            <a:r>
              <a:rPr lang="ja-JP" altLang="en-US" b="1" dirty="0" smtClean="0"/>
              <a:t>マップについて</a:t>
            </a:r>
            <a:r>
              <a:rPr lang="en-US" altLang="ja-JP" b="1" dirty="0" smtClean="0"/>
              <a:t>】</a:t>
            </a:r>
          </a:p>
          <a:p>
            <a:r>
              <a:rPr lang="ja-JP" altLang="en-US" dirty="0" smtClean="0"/>
              <a:t>今回は</a:t>
            </a:r>
            <a:r>
              <a:rPr lang="en-US" altLang="ja-JP" dirty="0" smtClean="0"/>
              <a:t>2</a:t>
            </a:r>
            <a:r>
              <a:rPr lang="ja-JP" altLang="en-US" dirty="0" smtClean="0"/>
              <a:t>種類のマップ用配列を用意するのが良いです。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ja-JP" altLang="en-US" b="1" u="sng" dirty="0" smtClean="0"/>
              <a:t>それぞれのマスが自分自身の情報を持つ</a:t>
            </a:r>
            <a:r>
              <a:rPr lang="en-US" altLang="ja-JP" b="1" u="sng" dirty="0" smtClean="0"/>
              <a:t>2</a:t>
            </a:r>
            <a:r>
              <a:rPr lang="ja-JP" altLang="en-US" b="1" u="sng" dirty="0" smtClean="0"/>
              <a:t>次元配列</a:t>
            </a:r>
            <a:r>
              <a:rPr lang="en-US" altLang="ja-JP" b="1" u="sng" dirty="0" smtClean="0"/>
              <a:t>(</a:t>
            </a:r>
            <a:r>
              <a:rPr lang="ja-JP" altLang="en-US" b="1" u="sng" dirty="0" smtClean="0"/>
              <a:t>地雷マップ</a:t>
            </a:r>
            <a:r>
              <a:rPr lang="en-US" altLang="ja-JP" b="1" u="sng" dirty="0" smtClean="0"/>
              <a:t>)</a:t>
            </a:r>
          </a:p>
          <a:p>
            <a:r>
              <a:rPr lang="ja-JP" altLang="en-US" b="1" dirty="0" smtClean="0"/>
              <a:t>　</a:t>
            </a:r>
            <a:r>
              <a:rPr lang="ja-JP" altLang="en-US" dirty="0"/>
              <a:t>地雷</a:t>
            </a:r>
            <a:r>
              <a:rPr lang="ja-JP" altLang="en-US" dirty="0" smtClean="0"/>
              <a:t>マス、数字マス</a:t>
            </a:r>
            <a:r>
              <a:rPr lang="en-US" altLang="ja-JP" dirty="0" smtClean="0"/>
              <a:t>(1</a:t>
            </a:r>
            <a:r>
              <a:rPr lang="ja-JP" altLang="en-US" dirty="0" smtClean="0"/>
              <a:t>～</a:t>
            </a:r>
            <a:r>
              <a:rPr lang="en-US" altLang="ja-JP" dirty="0" smtClean="0"/>
              <a:t>7)</a:t>
            </a:r>
            <a:r>
              <a:rPr lang="ja-JP" altLang="en-US" dirty="0" err="1" smtClean="0"/>
              <a:t>、</a:t>
            </a:r>
            <a:r>
              <a:rPr lang="ja-JP" altLang="en-US" dirty="0"/>
              <a:t>空白</a:t>
            </a:r>
            <a:r>
              <a:rPr lang="ja-JP" altLang="en-US" dirty="0" smtClean="0"/>
              <a:t>マスのどれかの情報を持つ。</a:t>
            </a:r>
            <a:endParaRPr lang="en-US" altLang="ja-JP" dirty="0" smtClean="0"/>
          </a:p>
          <a:p>
            <a:r>
              <a:rPr lang="ja-JP" altLang="en-US" b="1" dirty="0"/>
              <a:t>　</a:t>
            </a:r>
            <a:r>
              <a:rPr lang="ja-JP" altLang="en-US" dirty="0" smtClean="0"/>
              <a:t>この配列をもとに描画するわけではない。</a:t>
            </a:r>
            <a:endParaRPr lang="en-US" altLang="ja-JP" dirty="0"/>
          </a:p>
          <a:p>
            <a:endParaRPr lang="en-US" altLang="ja-JP" b="1" dirty="0" smtClean="0"/>
          </a:p>
          <a:p>
            <a:r>
              <a:rPr lang="ja-JP" altLang="en-US" b="1" u="sng" dirty="0" smtClean="0"/>
              <a:t>描画用の</a:t>
            </a:r>
            <a:r>
              <a:rPr lang="en-US" altLang="ja-JP" b="1" u="sng" dirty="0" smtClean="0"/>
              <a:t>2</a:t>
            </a:r>
            <a:r>
              <a:rPr lang="ja-JP" altLang="en-US" b="1" u="sng" dirty="0" smtClean="0"/>
              <a:t>次元配列</a:t>
            </a:r>
            <a:r>
              <a:rPr lang="en-US" altLang="ja-JP" b="1" u="sng" dirty="0" smtClean="0"/>
              <a:t>(</a:t>
            </a:r>
            <a:r>
              <a:rPr lang="ja-JP" altLang="en-US" b="1" u="sng" dirty="0" smtClean="0"/>
              <a:t>描画マップ</a:t>
            </a:r>
            <a:r>
              <a:rPr lang="en-US" altLang="ja-JP" b="1" u="sng" dirty="0" smtClean="0"/>
              <a:t>)</a:t>
            </a:r>
          </a:p>
          <a:p>
            <a:r>
              <a:rPr lang="ja-JP" altLang="en-US" dirty="0" smtClean="0"/>
              <a:t>　地雷マップの上からふたをするようなイメージの描画用マップ。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最初は緑マス</a:t>
            </a:r>
            <a:r>
              <a:rPr lang="en-US" altLang="ja-JP" dirty="0" smtClean="0"/>
              <a:t>(</a:t>
            </a:r>
            <a:r>
              <a:rPr lang="ja-JP" altLang="en-US" dirty="0" smtClean="0"/>
              <a:t>芝生</a:t>
            </a:r>
            <a:r>
              <a:rPr lang="en-US" altLang="ja-JP" dirty="0" smtClean="0"/>
              <a:t>)</a:t>
            </a:r>
            <a:r>
              <a:rPr lang="ja-JP" altLang="en-US" dirty="0"/>
              <a:t>にして</a:t>
            </a:r>
            <a:r>
              <a:rPr lang="ja-JP" altLang="en-US" dirty="0" smtClean="0"/>
              <a:t>おき、右クリックされたら旗マスにする。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左クリックでめくられたら、地雷マップの情報を参照し反映させる。</a:t>
            </a:r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 smtClean="0"/>
          </a:p>
        </p:txBody>
      </p:sp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313720"/>
              </p:ext>
            </p:extLst>
          </p:nvPr>
        </p:nvGraphicFramePr>
        <p:xfrm>
          <a:off x="3646657" y="4291688"/>
          <a:ext cx="2246050" cy="2183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210">
                  <a:extLst>
                    <a:ext uri="{9D8B030D-6E8A-4147-A177-3AD203B41FA5}">
                      <a16:colId xmlns:a16="http://schemas.microsoft.com/office/drawing/2014/main" val="2899786950"/>
                    </a:ext>
                  </a:extLst>
                </a:gridCol>
                <a:gridCol w="449210">
                  <a:extLst>
                    <a:ext uri="{9D8B030D-6E8A-4147-A177-3AD203B41FA5}">
                      <a16:colId xmlns:a16="http://schemas.microsoft.com/office/drawing/2014/main" val="3233638355"/>
                    </a:ext>
                  </a:extLst>
                </a:gridCol>
                <a:gridCol w="449210">
                  <a:extLst>
                    <a:ext uri="{9D8B030D-6E8A-4147-A177-3AD203B41FA5}">
                      <a16:colId xmlns:a16="http://schemas.microsoft.com/office/drawing/2014/main" val="2153272406"/>
                    </a:ext>
                  </a:extLst>
                </a:gridCol>
                <a:gridCol w="449210">
                  <a:extLst>
                    <a:ext uri="{9D8B030D-6E8A-4147-A177-3AD203B41FA5}">
                      <a16:colId xmlns:a16="http://schemas.microsoft.com/office/drawing/2014/main" val="3726684223"/>
                    </a:ext>
                  </a:extLst>
                </a:gridCol>
                <a:gridCol w="449210">
                  <a:extLst>
                    <a:ext uri="{9D8B030D-6E8A-4147-A177-3AD203B41FA5}">
                      <a16:colId xmlns:a16="http://schemas.microsoft.com/office/drawing/2014/main" val="1837765820"/>
                    </a:ext>
                  </a:extLst>
                </a:gridCol>
              </a:tblGrid>
              <a:tr h="436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</a:t>
                      </a:r>
                    </a:p>
                  </a:txBody>
                  <a:tcPr anchor="ctr">
                    <a:solidFill>
                      <a:srgbClr val="8D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20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20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20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2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A3E9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289779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8D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2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A3E9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4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E67A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20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2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A3E9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992685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8D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8D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8DE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785943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2914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591509"/>
                  </a:ext>
                </a:extLst>
              </a:tr>
            </a:tbl>
          </a:graphicData>
        </a:graphic>
      </p:graphicFrame>
      <p:sp>
        <p:nvSpPr>
          <p:cNvPr id="5" name="テキスト ボックス 4"/>
          <p:cNvSpPr txBox="1"/>
          <p:nvPr/>
        </p:nvSpPr>
        <p:spPr>
          <a:xfrm>
            <a:off x="375200" y="3741578"/>
            <a:ext cx="2852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例えばここのマップを</a:t>
            </a:r>
            <a:endParaRPr lang="en-US" altLang="ja-JP" sz="1600" dirty="0" smtClean="0"/>
          </a:p>
          <a:p>
            <a:r>
              <a:rPr lang="ja-JP" altLang="en-US" sz="1600" dirty="0" smtClean="0"/>
              <a:t>それぞれのマップで表すと</a:t>
            </a:r>
            <a:r>
              <a:rPr lang="en-US" altLang="ja-JP" sz="1600" dirty="0" smtClean="0"/>
              <a:t>…</a:t>
            </a:r>
            <a:endParaRPr kumimoji="1" lang="ja-JP" altLang="en-US" sz="16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59094" y="3982696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地雷マップ配列の中身</a:t>
            </a:r>
            <a:endParaRPr kumimoji="1" lang="ja-JP" altLang="en-US" sz="1600" dirty="0"/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118849"/>
              </p:ext>
            </p:extLst>
          </p:nvPr>
        </p:nvGraphicFramePr>
        <p:xfrm>
          <a:off x="6123595" y="4296791"/>
          <a:ext cx="2246050" cy="2183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210">
                  <a:extLst>
                    <a:ext uri="{9D8B030D-6E8A-4147-A177-3AD203B41FA5}">
                      <a16:colId xmlns:a16="http://schemas.microsoft.com/office/drawing/2014/main" val="2899786950"/>
                    </a:ext>
                  </a:extLst>
                </a:gridCol>
                <a:gridCol w="449210">
                  <a:extLst>
                    <a:ext uri="{9D8B030D-6E8A-4147-A177-3AD203B41FA5}">
                      <a16:colId xmlns:a16="http://schemas.microsoft.com/office/drawing/2014/main" val="3233638355"/>
                    </a:ext>
                  </a:extLst>
                </a:gridCol>
                <a:gridCol w="449210">
                  <a:extLst>
                    <a:ext uri="{9D8B030D-6E8A-4147-A177-3AD203B41FA5}">
                      <a16:colId xmlns:a16="http://schemas.microsoft.com/office/drawing/2014/main" val="2153272406"/>
                    </a:ext>
                  </a:extLst>
                </a:gridCol>
                <a:gridCol w="449210">
                  <a:extLst>
                    <a:ext uri="{9D8B030D-6E8A-4147-A177-3AD203B41FA5}">
                      <a16:colId xmlns:a16="http://schemas.microsoft.com/office/drawing/2014/main" val="3726684223"/>
                    </a:ext>
                  </a:extLst>
                </a:gridCol>
                <a:gridCol w="449210">
                  <a:extLst>
                    <a:ext uri="{9D8B030D-6E8A-4147-A177-3AD203B41FA5}">
                      <a16:colId xmlns:a16="http://schemas.microsoft.com/office/drawing/2014/main" val="1837765820"/>
                    </a:ext>
                  </a:extLst>
                </a:gridCol>
              </a:tblGrid>
              <a:tr h="436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</a:t>
                      </a:r>
                    </a:p>
                  </a:txBody>
                  <a:tcPr anchor="ctr">
                    <a:solidFill>
                      <a:srgbClr val="8D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E278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9EE6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9EE6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9EE6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289779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8D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2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A3E9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4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E67A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E278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9EE6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992685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8D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8D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rgbClr val="8DE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785943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2914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591509"/>
                  </a:ext>
                </a:extLst>
              </a:tr>
            </a:tbl>
          </a:graphicData>
        </a:graphic>
      </p:graphicFrame>
      <p:sp>
        <p:nvSpPr>
          <p:cNvPr id="8" name="テキスト ボックス 7"/>
          <p:cNvSpPr txBox="1"/>
          <p:nvPr/>
        </p:nvSpPr>
        <p:spPr>
          <a:xfrm>
            <a:off x="6036032" y="3987799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描画</a:t>
            </a:r>
            <a:r>
              <a:rPr lang="ja-JP" altLang="en-US" sz="1600" dirty="0" smtClean="0"/>
              <a:t>マップ配列の中身</a:t>
            </a:r>
            <a:endParaRPr kumimoji="1" lang="ja-JP" altLang="en-US" sz="1600" dirty="0"/>
          </a:p>
        </p:txBody>
      </p:sp>
      <p:sp>
        <p:nvSpPr>
          <p:cNvPr id="9" name="正方形/長方形 8"/>
          <p:cNvSpPr/>
          <p:nvPr/>
        </p:nvSpPr>
        <p:spPr>
          <a:xfrm>
            <a:off x="8811513" y="5162359"/>
            <a:ext cx="2309332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sz="1600" dirty="0" smtClean="0"/>
              <a:t> -1	… </a:t>
            </a:r>
            <a:r>
              <a:rPr lang="ja-JP" altLang="en-US" sz="1600" dirty="0" smtClean="0"/>
              <a:t>芝生マス</a:t>
            </a:r>
            <a:endParaRPr lang="en-US" altLang="ja-JP" sz="1600" dirty="0" smtClean="0"/>
          </a:p>
          <a:p>
            <a:r>
              <a:rPr lang="en-US" altLang="ja-JP" sz="1600" dirty="0" smtClean="0"/>
              <a:t> 0       	… </a:t>
            </a:r>
            <a:r>
              <a:rPr lang="ja-JP" altLang="en-US" sz="1600" dirty="0"/>
              <a:t>空白</a:t>
            </a:r>
            <a:r>
              <a:rPr lang="ja-JP" altLang="en-US" sz="1600" dirty="0" smtClean="0"/>
              <a:t>マス</a:t>
            </a:r>
            <a:endParaRPr lang="en-US" altLang="ja-JP" sz="1600" dirty="0" smtClean="0"/>
          </a:p>
          <a:p>
            <a:r>
              <a:rPr lang="en-US" altLang="ja-JP" sz="1600" dirty="0" smtClean="0"/>
              <a:t> 1</a:t>
            </a:r>
            <a:r>
              <a:rPr lang="ja-JP" altLang="en-US" sz="1600" dirty="0" smtClean="0"/>
              <a:t>～</a:t>
            </a:r>
            <a:r>
              <a:rPr lang="en-US" altLang="ja-JP" sz="1600" dirty="0" smtClean="0"/>
              <a:t>7 	… </a:t>
            </a:r>
            <a:r>
              <a:rPr lang="ja-JP" altLang="en-US" sz="1600" dirty="0" smtClean="0"/>
              <a:t>数字</a:t>
            </a:r>
            <a:r>
              <a:rPr lang="en-US" altLang="ja-JP" sz="1600" dirty="0" smtClean="0"/>
              <a:t>1</a:t>
            </a:r>
            <a:r>
              <a:rPr lang="ja-JP" altLang="en-US" sz="1600" dirty="0" smtClean="0"/>
              <a:t>～</a:t>
            </a:r>
            <a:r>
              <a:rPr lang="en-US" altLang="ja-JP" sz="1600" dirty="0" smtClean="0"/>
              <a:t>7</a:t>
            </a:r>
          </a:p>
          <a:p>
            <a:r>
              <a:rPr lang="en-US" altLang="ja-JP" sz="1600" dirty="0" smtClean="0"/>
              <a:t> 10 	… </a:t>
            </a:r>
            <a:r>
              <a:rPr lang="ja-JP" altLang="en-US" sz="1600" dirty="0" smtClean="0"/>
              <a:t>旗マス</a:t>
            </a:r>
            <a:endParaRPr lang="en-US" altLang="ja-JP" sz="1600" dirty="0" smtClean="0"/>
          </a:p>
          <a:p>
            <a:r>
              <a:rPr lang="en-US" altLang="ja-JP" sz="1600" dirty="0" smtClean="0"/>
              <a:t> 20	… </a:t>
            </a:r>
            <a:r>
              <a:rPr lang="ja-JP" altLang="en-US" sz="1600" dirty="0" smtClean="0"/>
              <a:t>地雷マス</a:t>
            </a:r>
            <a:endParaRPr lang="en-US" altLang="ja-JP" sz="1600" dirty="0" smtClean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 rotWithShape="1">
          <a:blip r:embed="rId2"/>
          <a:srcRect l="24646" t="13249" r="49661" b="59139"/>
          <a:stretch/>
        </p:blipFill>
        <p:spPr>
          <a:xfrm>
            <a:off x="509373" y="4291688"/>
            <a:ext cx="2206577" cy="2194110"/>
          </a:xfrm>
          <a:prstGeom prst="rect">
            <a:avLst/>
          </a:prstGeom>
        </p:spPr>
      </p:pic>
      <p:sp>
        <p:nvSpPr>
          <p:cNvPr id="11" name="右矢印 10"/>
          <p:cNvSpPr/>
          <p:nvPr/>
        </p:nvSpPr>
        <p:spPr>
          <a:xfrm>
            <a:off x="2884933" y="5055830"/>
            <a:ext cx="618399" cy="665826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8811513" y="4331362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 smtClean="0"/>
              <a:t>配列の中の数値には</a:t>
            </a:r>
            <a:endParaRPr lang="en-US" altLang="ja-JP" sz="1600" dirty="0" smtClean="0"/>
          </a:p>
          <a:p>
            <a:r>
              <a:rPr kumimoji="1" lang="ja-JP" altLang="en-US" sz="1600" dirty="0" smtClean="0"/>
              <a:t>定数としてちゃんと</a:t>
            </a:r>
            <a:endParaRPr kumimoji="1" lang="en-US" altLang="ja-JP" sz="1600" dirty="0" smtClean="0"/>
          </a:p>
          <a:p>
            <a:r>
              <a:rPr lang="ja-JP" altLang="en-US" sz="1600" dirty="0" smtClean="0"/>
              <a:t>名前を付けてね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6072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03625" y="421697"/>
            <a:ext cx="1175024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b="1" dirty="0" smtClean="0"/>
              <a:t>【</a:t>
            </a:r>
            <a:r>
              <a:rPr lang="ja-JP" altLang="en-US" b="1" dirty="0" smtClean="0"/>
              <a:t>地雷マップ作成</a:t>
            </a:r>
            <a:r>
              <a:rPr lang="en-US" altLang="ja-JP" b="1" dirty="0" smtClean="0"/>
              <a:t>】</a:t>
            </a:r>
          </a:p>
          <a:p>
            <a:r>
              <a:rPr lang="ja-JP" altLang="en-US" dirty="0"/>
              <a:t>最初に</a:t>
            </a:r>
            <a:r>
              <a:rPr lang="ja-JP" altLang="en-US" dirty="0" smtClean="0"/>
              <a:t>クリックされた位置の周辺は地雷マスにしてはいけないので、マップの作成は最初のクリックがされた</a:t>
            </a:r>
            <a:endParaRPr lang="en-US" altLang="ja-JP" dirty="0" smtClean="0"/>
          </a:p>
          <a:p>
            <a:r>
              <a:rPr lang="ja-JP" altLang="en-US" dirty="0" smtClean="0"/>
              <a:t>タイミングで行う。</a:t>
            </a:r>
            <a:endParaRPr lang="en-US" altLang="ja-JP" dirty="0" smtClean="0"/>
          </a:p>
          <a:p>
            <a:r>
              <a:rPr lang="ja-JP" altLang="en-US" dirty="0">
                <a:solidFill>
                  <a:srgbClr val="FF0000"/>
                </a:solidFill>
              </a:rPr>
              <a:t>クリックされたマスを</a:t>
            </a:r>
            <a:r>
              <a:rPr lang="ja-JP" altLang="en-US" dirty="0" smtClean="0">
                <a:solidFill>
                  <a:srgbClr val="FF0000"/>
                </a:solidFill>
              </a:rPr>
              <a:t>中心とした</a:t>
            </a:r>
            <a:r>
              <a:rPr lang="en-US" altLang="ja-JP" dirty="0" smtClean="0">
                <a:solidFill>
                  <a:srgbClr val="FF0000"/>
                </a:solidFill>
              </a:rPr>
              <a:t>9</a:t>
            </a:r>
            <a:r>
              <a:rPr lang="ja-JP" altLang="en-US" dirty="0" smtClean="0">
                <a:solidFill>
                  <a:srgbClr val="FF0000"/>
                </a:solidFill>
              </a:rPr>
              <a:t>マスは地雷マスにしてはいけない</a:t>
            </a:r>
            <a:r>
              <a:rPr lang="ja-JP" altLang="en-US" dirty="0" smtClean="0"/>
              <a:t>ので、マップを作っていく前にまずはこの</a:t>
            </a:r>
            <a:endParaRPr lang="en-US" altLang="ja-JP" dirty="0" smtClean="0"/>
          </a:p>
          <a:p>
            <a:r>
              <a:rPr lang="en-US" altLang="ja-JP" dirty="0" smtClean="0"/>
              <a:t>9</a:t>
            </a:r>
            <a:r>
              <a:rPr lang="ja-JP" altLang="en-US" dirty="0" smtClean="0"/>
              <a:t>マスを</a:t>
            </a:r>
            <a:r>
              <a:rPr lang="en-US" altLang="ja-JP" dirty="0" smtClean="0"/>
              <a:t>『</a:t>
            </a:r>
            <a:r>
              <a:rPr lang="ja-JP" altLang="en-US" dirty="0"/>
              <a:t>空白</a:t>
            </a:r>
            <a:r>
              <a:rPr lang="ja-JP" altLang="en-US" dirty="0" smtClean="0"/>
              <a:t>マス</a:t>
            </a:r>
            <a:r>
              <a:rPr lang="en-US" altLang="ja-JP" dirty="0" smtClean="0"/>
              <a:t>』</a:t>
            </a:r>
            <a:r>
              <a:rPr lang="ja-JP" altLang="en-US" dirty="0" smtClean="0"/>
              <a:t>にしておく。</a:t>
            </a:r>
            <a:endParaRPr lang="en-US" altLang="ja-JP" dirty="0" smtClean="0"/>
          </a:p>
        </p:txBody>
      </p:sp>
      <p:sp>
        <p:nvSpPr>
          <p:cNvPr id="3" name="正方形/長方形 2"/>
          <p:cNvSpPr/>
          <p:nvPr/>
        </p:nvSpPr>
        <p:spPr>
          <a:xfrm>
            <a:off x="203625" y="2053680"/>
            <a:ext cx="11630025" cy="3952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b="1" u="sng" dirty="0" smtClean="0"/>
              <a:t>クリックされたマスを中心とした</a:t>
            </a:r>
            <a:r>
              <a:rPr kumimoji="1" lang="en-US" altLang="ja-JP" b="1" u="sng" dirty="0" smtClean="0"/>
              <a:t>9</a:t>
            </a:r>
            <a:r>
              <a:rPr kumimoji="1" lang="ja-JP" altLang="en-US" b="1" u="sng" dirty="0" smtClean="0"/>
              <a:t>マスのループの回し方</a:t>
            </a:r>
            <a:endParaRPr kumimoji="1" lang="en-US" altLang="ja-JP" b="1" u="sng" dirty="0" smtClean="0"/>
          </a:p>
          <a:p>
            <a:r>
              <a:rPr lang="ja-JP" altLang="en-US" dirty="0" smtClean="0"/>
              <a:t>マインスイーパーでは何回かこのループを使いたい時が出てくるのですが、どれも中心の</a:t>
            </a:r>
            <a:r>
              <a:rPr lang="en-US" altLang="ja-JP" dirty="0" smtClean="0"/>
              <a:t>1</a:t>
            </a:r>
            <a:r>
              <a:rPr lang="ja-JP" altLang="en-US" dirty="0" smtClean="0"/>
              <a:t>マスの座標だけ</a:t>
            </a:r>
            <a:endParaRPr lang="en-US" altLang="ja-JP" dirty="0" smtClean="0"/>
          </a:p>
          <a:p>
            <a:r>
              <a:rPr lang="ja-JP" altLang="en-US" dirty="0" smtClean="0"/>
              <a:t>取得できる状態になると思う。でも</a:t>
            </a:r>
            <a:r>
              <a:rPr lang="en-US" altLang="ja-JP" dirty="0" smtClean="0"/>
              <a:t>for</a:t>
            </a:r>
            <a:r>
              <a:rPr lang="ja-JP" altLang="en-US" dirty="0" smtClean="0"/>
              <a:t>文で回すなら左上からがいい。その場合、</a:t>
            </a:r>
            <a:endParaRPr lang="en-US" altLang="ja-JP" dirty="0" smtClean="0"/>
          </a:p>
          <a:p>
            <a:r>
              <a:rPr lang="en-US" altLang="ja-JP" b="1" dirty="0" smtClean="0"/>
              <a:t>2</a:t>
            </a:r>
            <a:r>
              <a:rPr lang="ja-JP" altLang="en-US" b="1" dirty="0" smtClean="0"/>
              <a:t>重</a:t>
            </a:r>
            <a:r>
              <a:rPr lang="en-US" altLang="ja-JP" b="1" dirty="0" smtClean="0"/>
              <a:t>for</a:t>
            </a:r>
            <a:r>
              <a:rPr lang="ja-JP" altLang="en-US" b="1" dirty="0" smtClean="0"/>
              <a:t>を作り、外側内側どちらも初期値を</a:t>
            </a:r>
            <a:r>
              <a:rPr lang="en-US" altLang="ja-JP" b="1" dirty="0" smtClean="0"/>
              <a:t>-1</a:t>
            </a:r>
            <a:r>
              <a:rPr lang="ja-JP" altLang="en-US" b="1" dirty="0" smtClean="0"/>
              <a:t>にし、</a:t>
            </a:r>
            <a:r>
              <a:rPr lang="en-US" altLang="ja-JP" b="1" dirty="0" smtClean="0"/>
              <a:t>1</a:t>
            </a:r>
            <a:r>
              <a:rPr lang="ja-JP" altLang="en-US" b="1" dirty="0" smtClean="0"/>
              <a:t>になるまで加算する</a:t>
            </a:r>
            <a:endParaRPr lang="en-US" altLang="ja-JP" b="1" dirty="0" smtClean="0"/>
          </a:p>
          <a:p>
            <a:r>
              <a:rPr kumimoji="1" lang="ja-JP" altLang="en-US" dirty="0"/>
              <a:t>と</a:t>
            </a:r>
            <a:r>
              <a:rPr kumimoji="1" lang="ja-JP" altLang="en-US" dirty="0" smtClean="0"/>
              <a:t>いう条件にするとできる。</a:t>
            </a:r>
            <a:endParaRPr kumimoji="1" lang="en-US" altLang="ja-JP" dirty="0" smtClean="0"/>
          </a:p>
          <a:p>
            <a:r>
              <a:rPr lang="ja-JP" altLang="en-US" dirty="0" smtClean="0"/>
              <a:t>真ん中は自分自身なので処理を除外したい場合は、</a:t>
            </a:r>
            <a:r>
              <a:rPr lang="en-US" altLang="ja-JP" dirty="0" smtClean="0"/>
              <a:t>for</a:t>
            </a:r>
            <a:r>
              <a:rPr lang="ja-JP" altLang="en-US" dirty="0" smtClean="0"/>
              <a:t>文中で回してる変数が</a:t>
            </a:r>
            <a:endParaRPr lang="en-US" altLang="ja-JP" dirty="0" smtClean="0"/>
          </a:p>
          <a:p>
            <a:r>
              <a:rPr lang="ja-JP" altLang="en-US" dirty="0" smtClean="0"/>
              <a:t>外側内側両方</a:t>
            </a:r>
            <a:r>
              <a:rPr lang="en-US" altLang="ja-JP" dirty="0" smtClean="0"/>
              <a:t>0</a:t>
            </a:r>
            <a:r>
              <a:rPr lang="ja-JP" altLang="en-US" dirty="0" smtClean="0"/>
              <a:t>の時に</a:t>
            </a:r>
            <a:r>
              <a:rPr lang="en-US" altLang="ja-JP" dirty="0" smtClean="0"/>
              <a:t>continue</a:t>
            </a:r>
            <a:r>
              <a:rPr lang="ja-JP" altLang="en-US" dirty="0" smtClean="0"/>
              <a:t>してあげれば良い。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nn-NO" altLang="ja-JP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for (int </a:t>
            </a:r>
            <a:r>
              <a:rPr lang="nn-NO" altLang="ja-JP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y </a:t>
            </a:r>
            <a:r>
              <a:rPr lang="nn-NO" altLang="ja-JP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= </a:t>
            </a:r>
            <a:r>
              <a:rPr lang="nn-NO" altLang="ja-JP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-1; y </a:t>
            </a:r>
            <a:r>
              <a:rPr lang="nn-NO" altLang="ja-JP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&lt;= </a:t>
            </a:r>
            <a:r>
              <a:rPr lang="nn-NO" altLang="ja-JP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1; y++)</a:t>
            </a:r>
          </a:p>
          <a:p>
            <a:r>
              <a:rPr lang="nn-NO" altLang="ja-JP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{</a:t>
            </a:r>
          </a:p>
          <a:p>
            <a:r>
              <a:rPr lang="nn-NO" altLang="ja-JP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	for (int </a:t>
            </a:r>
            <a:r>
              <a:rPr lang="nn-NO" altLang="ja-JP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x </a:t>
            </a:r>
            <a:r>
              <a:rPr lang="nn-NO" altLang="ja-JP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= </a:t>
            </a:r>
            <a:r>
              <a:rPr lang="nn-NO" altLang="ja-JP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-1; x </a:t>
            </a:r>
            <a:r>
              <a:rPr lang="nn-NO" altLang="ja-JP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&lt;= </a:t>
            </a:r>
            <a:r>
              <a:rPr lang="nn-NO" altLang="ja-JP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1; x++)</a:t>
            </a:r>
          </a:p>
          <a:p>
            <a:r>
              <a:rPr lang="nn-NO" altLang="ja-JP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	{</a:t>
            </a:r>
          </a:p>
          <a:p>
            <a:r>
              <a:rPr lang="nn-NO" altLang="ja-JP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	</a:t>
            </a:r>
            <a:r>
              <a:rPr lang="nn-NO" altLang="ja-JP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	</a:t>
            </a:r>
            <a:r>
              <a:rPr lang="ja-JP" altLang="en-US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・</a:t>
            </a:r>
            <a:endParaRPr lang="en-US" altLang="ja-JP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n-US" altLang="ja-JP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	</a:t>
            </a:r>
            <a:r>
              <a:rPr lang="en-US" altLang="ja-JP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	</a:t>
            </a:r>
            <a:r>
              <a:rPr lang="ja-JP" altLang="en-US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・</a:t>
            </a:r>
            <a:endParaRPr lang="en-US" altLang="ja-JP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513728"/>
              </p:ext>
            </p:extLst>
          </p:nvPr>
        </p:nvGraphicFramePr>
        <p:xfrm>
          <a:off x="8861945" y="3414108"/>
          <a:ext cx="2662746" cy="22409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582">
                  <a:extLst>
                    <a:ext uri="{9D8B030D-6E8A-4147-A177-3AD203B41FA5}">
                      <a16:colId xmlns:a16="http://schemas.microsoft.com/office/drawing/2014/main" val="2194984169"/>
                    </a:ext>
                  </a:extLst>
                </a:gridCol>
                <a:gridCol w="887582">
                  <a:extLst>
                    <a:ext uri="{9D8B030D-6E8A-4147-A177-3AD203B41FA5}">
                      <a16:colId xmlns:a16="http://schemas.microsoft.com/office/drawing/2014/main" val="632458975"/>
                    </a:ext>
                  </a:extLst>
                </a:gridCol>
                <a:gridCol w="887582">
                  <a:extLst>
                    <a:ext uri="{9D8B030D-6E8A-4147-A177-3AD203B41FA5}">
                      <a16:colId xmlns:a16="http://schemas.microsoft.com/office/drawing/2014/main" val="651607939"/>
                    </a:ext>
                  </a:extLst>
                </a:gridCol>
              </a:tblGrid>
              <a:tr h="746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-1,-1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0,-1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1,-1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701210"/>
                  </a:ext>
                </a:extLst>
              </a:tr>
              <a:tr h="746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-1,0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0,0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1,0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19300"/>
                  </a:ext>
                </a:extLst>
              </a:tr>
              <a:tr h="74698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-1,1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0,1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1,1</a:t>
                      </a:r>
                      <a:endParaRPr kumimoji="1" lang="ja-JP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01788"/>
                  </a:ext>
                </a:extLst>
              </a:tr>
            </a:tbl>
          </a:graphicData>
        </a:graphic>
      </p:graphicFrame>
      <p:sp>
        <p:nvSpPr>
          <p:cNvPr id="5" name="テキスト ボックス 4"/>
          <p:cNvSpPr txBox="1"/>
          <p:nvPr/>
        </p:nvSpPr>
        <p:spPr>
          <a:xfrm>
            <a:off x="8795727" y="3120768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solidFill>
                  <a:schemeClr val="bg1"/>
                </a:solidFill>
              </a:rPr>
              <a:t>(</a:t>
            </a:r>
            <a:r>
              <a:rPr lang="en-US" altLang="ja-JP" dirty="0" err="1" smtClean="0">
                <a:solidFill>
                  <a:schemeClr val="bg1"/>
                </a:solidFill>
              </a:rPr>
              <a:t>x</a:t>
            </a:r>
            <a:r>
              <a:rPr kumimoji="1" lang="en-US" altLang="ja-JP" dirty="0" err="1" smtClean="0">
                <a:solidFill>
                  <a:schemeClr val="bg1"/>
                </a:solidFill>
              </a:rPr>
              <a:t>,y</a:t>
            </a:r>
            <a:r>
              <a:rPr kumimoji="1" lang="en-US" altLang="ja-JP" dirty="0" smtClean="0">
                <a:solidFill>
                  <a:schemeClr val="bg1"/>
                </a:solidFill>
              </a:rPr>
              <a:t>)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cxnSp>
        <p:nvCxnSpPr>
          <p:cNvPr id="15" name="直線矢印コネクタ 14"/>
          <p:cNvCxnSpPr/>
          <p:nvPr/>
        </p:nvCxnSpPr>
        <p:spPr>
          <a:xfrm>
            <a:off x="8982075" y="5467350"/>
            <a:ext cx="2400300" cy="0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>
            <a:off x="8982075" y="3990975"/>
            <a:ext cx="2400300" cy="0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/>
          <p:nvPr/>
        </p:nvCxnSpPr>
        <p:spPr>
          <a:xfrm flipV="1">
            <a:off x="8982075" y="3990975"/>
            <a:ext cx="2400300" cy="14763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111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03625" y="317962"/>
            <a:ext cx="1175024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 smtClean="0"/>
              <a:t>次に、地雷を置く場所を乱数で決める。</a:t>
            </a:r>
            <a:endParaRPr lang="en-US" altLang="ja-JP" dirty="0" smtClean="0"/>
          </a:p>
          <a:p>
            <a:r>
              <a:rPr lang="ja-JP" altLang="en-US" dirty="0" smtClean="0"/>
              <a:t>座標をランダムで取得するということなので、</a:t>
            </a:r>
            <a:r>
              <a:rPr lang="en-US" altLang="ja-JP" dirty="0" smtClean="0">
                <a:solidFill>
                  <a:srgbClr val="FF0000"/>
                </a:solidFill>
              </a:rPr>
              <a:t>X</a:t>
            </a:r>
            <a:r>
              <a:rPr lang="ja-JP" altLang="en-US" dirty="0" smtClean="0">
                <a:solidFill>
                  <a:srgbClr val="FF0000"/>
                </a:solidFill>
              </a:rPr>
              <a:t>軸</a:t>
            </a:r>
            <a:r>
              <a:rPr lang="en-US" altLang="ja-JP" dirty="0" smtClean="0">
                <a:solidFill>
                  <a:srgbClr val="FF0000"/>
                </a:solidFill>
              </a:rPr>
              <a:t>Y</a:t>
            </a:r>
            <a:r>
              <a:rPr lang="ja-JP" altLang="en-US" dirty="0" smtClean="0">
                <a:solidFill>
                  <a:srgbClr val="FF0000"/>
                </a:solidFill>
              </a:rPr>
              <a:t>軸それぞれマスの数分の範囲から乱数を取り</a:t>
            </a:r>
            <a:r>
              <a:rPr lang="ja-JP" altLang="en-US" dirty="0" smtClean="0"/>
              <a:t>、</a:t>
            </a:r>
            <a:endParaRPr lang="en-US" altLang="ja-JP" dirty="0" smtClean="0"/>
          </a:p>
          <a:p>
            <a:r>
              <a:rPr lang="ja-JP" altLang="en-US" dirty="0" smtClean="0"/>
              <a:t>その座標の場所を地雷マスとする。それを地雷の数分ループさせる。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ja-JP" altLang="en-US" dirty="0" smtClean="0"/>
              <a:t>地雷の位置が決まったら、その周りの数字を設定する。</a:t>
            </a:r>
            <a:endParaRPr lang="en-US" altLang="ja-JP" dirty="0" smtClean="0"/>
          </a:p>
          <a:p>
            <a:r>
              <a:rPr lang="ja-JP" altLang="en-US" dirty="0" smtClean="0"/>
              <a:t>前ページで説明した、自身を中心とした</a:t>
            </a:r>
            <a:r>
              <a:rPr lang="en-US" altLang="ja-JP" dirty="0" smtClean="0"/>
              <a:t>9</a:t>
            </a:r>
            <a:r>
              <a:rPr lang="ja-JP" altLang="en-US" dirty="0" smtClean="0"/>
              <a:t>マスループを使い、</a:t>
            </a:r>
            <a:endParaRPr lang="en-US" altLang="ja-JP" dirty="0" smtClean="0"/>
          </a:p>
          <a:p>
            <a:r>
              <a:rPr lang="ja-JP" altLang="en-US" dirty="0" smtClean="0">
                <a:solidFill>
                  <a:srgbClr val="FF0000"/>
                </a:solidFill>
              </a:rPr>
              <a:t>地雷の周りを</a:t>
            </a:r>
            <a:r>
              <a:rPr lang="en-US" altLang="ja-JP" dirty="0" smtClean="0">
                <a:solidFill>
                  <a:srgbClr val="FF0000"/>
                </a:solidFill>
              </a:rPr>
              <a:t>1</a:t>
            </a:r>
            <a:r>
              <a:rPr lang="ja-JP" altLang="en-US" dirty="0" smtClean="0">
                <a:solidFill>
                  <a:srgbClr val="FF0000"/>
                </a:solidFill>
              </a:rPr>
              <a:t>加算</a:t>
            </a:r>
            <a:r>
              <a:rPr lang="ja-JP" altLang="en-US" dirty="0" smtClean="0"/>
              <a:t>する。</a:t>
            </a:r>
            <a:endParaRPr lang="en-US" altLang="ja-JP" dirty="0" smtClean="0"/>
          </a:p>
          <a:p>
            <a:r>
              <a:rPr lang="ja-JP" altLang="en-US" dirty="0" smtClean="0"/>
              <a:t>加算することによって、他の地雷が重なっていたとしても、</a:t>
            </a:r>
            <a:endParaRPr lang="en-US" altLang="ja-JP" dirty="0" smtClean="0"/>
          </a:p>
          <a:p>
            <a:r>
              <a:rPr lang="ja-JP" altLang="en-US" dirty="0" smtClean="0"/>
              <a:t>数字に関しては処理を追加する必要がない。</a:t>
            </a:r>
            <a:endParaRPr lang="en-US" altLang="ja-JP" dirty="0" smtClean="0"/>
          </a:p>
          <a:p>
            <a:r>
              <a:rPr lang="ja-JP" altLang="en-US" dirty="0" smtClean="0"/>
              <a:t>自身のマス</a:t>
            </a:r>
            <a:r>
              <a:rPr lang="en-US" altLang="ja-JP" dirty="0" smtClean="0"/>
              <a:t>(</a:t>
            </a:r>
            <a:r>
              <a:rPr lang="ja-JP" altLang="en-US" dirty="0" smtClean="0"/>
              <a:t>真ん中</a:t>
            </a:r>
            <a:r>
              <a:rPr lang="en-US" altLang="ja-JP" dirty="0" smtClean="0"/>
              <a:t>)</a:t>
            </a:r>
            <a:r>
              <a:rPr lang="ja-JP" altLang="en-US" dirty="0" smtClean="0"/>
              <a:t>と他の地雷のマスは処理をスルーする</a:t>
            </a:r>
            <a:r>
              <a:rPr lang="ja-JP" altLang="en-US" dirty="0"/>
              <a:t>。</a:t>
            </a:r>
            <a:endParaRPr lang="en-US" altLang="ja-JP" dirty="0" smtClean="0"/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105174"/>
              </p:ext>
            </p:extLst>
          </p:nvPr>
        </p:nvGraphicFramePr>
        <p:xfrm>
          <a:off x="6987170" y="1790178"/>
          <a:ext cx="1829076" cy="17221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92">
                  <a:extLst>
                    <a:ext uri="{9D8B030D-6E8A-4147-A177-3AD203B41FA5}">
                      <a16:colId xmlns:a16="http://schemas.microsoft.com/office/drawing/2014/main" val="1478516029"/>
                    </a:ext>
                  </a:extLst>
                </a:gridCol>
                <a:gridCol w="609692">
                  <a:extLst>
                    <a:ext uri="{9D8B030D-6E8A-4147-A177-3AD203B41FA5}">
                      <a16:colId xmlns:a16="http://schemas.microsoft.com/office/drawing/2014/main" val="2227335331"/>
                    </a:ext>
                  </a:extLst>
                </a:gridCol>
                <a:gridCol w="609692">
                  <a:extLst>
                    <a:ext uri="{9D8B030D-6E8A-4147-A177-3AD203B41FA5}">
                      <a16:colId xmlns:a16="http://schemas.microsoft.com/office/drawing/2014/main" val="1586705847"/>
                    </a:ext>
                  </a:extLst>
                </a:gridCol>
              </a:tblGrid>
              <a:tr h="54105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38486"/>
                  </a:ext>
                </a:extLst>
              </a:tr>
              <a:tr h="63949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600" dirty="0" smtClean="0"/>
                        <a:t>●</a:t>
                      </a:r>
                      <a:endParaRPr kumimoji="1" lang="ja-JP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92908"/>
                  </a:ext>
                </a:extLst>
              </a:tr>
              <a:tr h="54105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8639053"/>
                  </a:ext>
                </a:extLst>
              </a:tr>
            </a:tbl>
          </a:graphicData>
        </a:graphic>
      </p:graphicFrame>
      <p:sp>
        <p:nvSpPr>
          <p:cNvPr id="4" name="テキスト ボックス 3"/>
          <p:cNvSpPr txBox="1"/>
          <p:nvPr/>
        </p:nvSpPr>
        <p:spPr>
          <a:xfrm>
            <a:off x="6592696" y="1451960"/>
            <a:ext cx="2618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地雷を中心とし、周囲</a:t>
            </a:r>
            <a:r>
              <a:rPr lang="en-US" altLang="ja-JP" sz="1400" dirty="0" smtClean="0"/>
              <a:t>8</a:t>
            </a:r>
            <a:r>
              <a:rPr lang="ja-JP" altLang="en-US" sz="1400" dirty="0" smtClean="0"/>
              <a:t>マスを</a:t>
            </a:r>
            <a:endParaRPr kumimoji="1" lang="ja-JP" altLang="en-US" sz="1400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467871"/>
              </p:ext>
            </p:extLst>
          </p:nvPr>
        </p:nvGraphicFramePr>
        <p:xfrm>
          <a:off x="9584841" y="1770585"/>
          <a:ext cx="1829076" cy="17107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92">
                  <a:extLst>
                    <a:ext uri="{9D8B030D-6E8A-4147-A177-3AD203B41FA5}">
                      <a16:colId xmlns:a16="http://schemas.microsoft.com/office/drawing/2014/main" val="1478516029"/>
                    </a:ext>
                  </a:extLst>
                </a:gridCol>
                <a:gridCol w="609692">
                  <a:extLst>
                    <a:ext uri="{9D8B030D-6E8A-4147-A177-3AD203B41FA5}">
                      <a16:colId xmlns:a16="http://schemas.microsoft.com/office/drawing/2014/main" val="2227335331"/>
                    </a:ext>
                  </a:extLst>
                </a:gridCol>
                <a:gridCol w="609692">
                  <a:extLst>
                    <a:ext uri="{9D8B030D-6E8A-4147-A177-3AD203B41FA5}">
                      <a16:colId xmlns:a16="http://schemas.microsoft.com/office/drawing/2014/main" val="1586705847"/>
                    </a:ext>
                  </a:extLst>
                </a:gridCol>
              </a:tblGrid>
              <a:tr h="53534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38486"/>
                  </a:ext>
                </a:extLst>
              </a:tr>
              <a:tr h="56967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600" dirty="0" smtClean="0"/>
                        <a:t>●</a:t>
                      </a:r>
                      <a:endParaRPr kumimoji="1" lang="ja-JP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92908"/>
                  </a:ext>
                </a:extLst>
              </a:tr>
              <a:tr h="53534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8639053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10179302" y="1478532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/>
              <a:t>＋</a:t>
            </a:r>
            <a:r>
              <a:rPr kumimoji="1" lang="en-US" altLang="ja-JP" sz="1400" dirty="0" smtClean="0"/>
              <a:t>1</a:t>
            </a:r>
            <a:r>
              <a:rPr lang="ja-JP" altLang="en-US" sz="1400" dirty="0"/>
              <a:t>する</a:t>
            </a:r>
            <a:endParaRPr kumimoji="1" lang="ja-JP" altLang="en-US" sz="1400" dirty="0"/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305313"/>
              </p:ext>
            </p:extLst>
          </p:nvPr>
        </p:nvGraphicFramePr>
        <p:xfrm>
          <a:off x="5384283" y="4063641"/>
          <a:ext cx="2688708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2177">
                  <a:extLst>
                    <a:ext uri="{9D8B030D-6E8A-4147-A177-3AD203B41FA5}">
                      <a16:colId xmlns:a16="http://schemas.microsoft.com/office/drawing/2014/main" val="1502755564"/>
                    </a:ext>
                  </a:extLst>
                </a:gridCol>
                <a:gridCol w="672177">
                  <a:extLst>
                    <a:ext uri="{9D8B030D-6E8A-4147-A177-3AD203B41FA5}">
                      <a16:colId xmlns:a16="http://schemas.microsoft.com/office/drawing/2014/main" val="3491381203"/>
                    </a:ext>
                  </a:extLst>
                </a:gridCol>
                <a:gridCol w="672177">
                  <a:extLst>
                    <a:ext uri="{9D8B030D-6E8A-4147-A177-3AD203B41FA5}">
                      <a16:colId xmlns:a16="http://schemas.microsoft.com/office/drawing/2014/main" val="2625057624"/>
                    </a:ext>
                  </a:extLst>
                </a:gridCol>
                <a:gridCol w="672177">
                  <a:extLst>
                    <a:ext uri="{9D8B030D-6E8A-4147-A177-3AD203B41FA5}">
                      <a16:colId xmlns:a16="http://schemas.microsoft.com/office/drawing/2014/main" val="177391812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51686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600" dirty="0" smtClean="0"/>
                        <a:t>●</a:t>
                      </a:r>
                      <a:endParaRPr kumimoji="1" lang="ja-JP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212843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3600" dirty="0" smtClean="0"/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45736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799321"/>
                  </a:ext>
                </a:extLst>
              </a:tr>
            </a:tbl>
          </a:graphicData>
        </a:graphic>
      </p:graphicFrame>
      <p:sp>
        <p:nvSpPr>
          <p:cNvPr id="8" name="右矢印 7"/>
          <p:cNvSpPr/>
          <p:nvPr/>
        </p:nvSpPr>
        <p:spPr>
          <a:xfrm>
            <a:off x="8961057" y="2356902"/>
            <a:ext cx="478972" cy="435429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0" name="右矢印 9"/>
          <p:cNvSpPr/>
          <p:nvPr/>
        </p:nvSpPr>
        <p:spPr>
          <a:xfrm>
            <a:off x="8159614" y="5108418"/>
            <a:ext cx="478972" cy="435429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317036" y="3773532"/>
            <a:ext cx="27975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周囲</a:t>
            </a:r>
            <a:r>
              <a:rPr lang="en-US" altLang="ja-JP" sz="1400" dirty="0" smtClean="0"/>
              <a:t>8</a:t>
            </a:r>
            <a:r>
              <a:rPr lang="ja-JP" altLang="en-US" sz="1400" dirty="0" smtClean="0"/>
              <a:t>マスに別の地雷があっても</a:t>
            </a:r>
            <a:endParaRPr kumimoji="1" lang="ja-JP" altLang="en-US" sz="1400" dirty="0"/>
          </a:p>
        </p:txBody>
      </p:sp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892331"/>
              </p:ext>
            </p:extLst>
          </p:nvPr>
        </p:nvGraphicFramePr>
        <p:xfrm>
          <a:off x="8725209" y="4063641"/>
          <a:ext cx="2688708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2177">
                  <a:extLst>
                    <a:ext uri="{9D8B030D-6E8A-4147-A177-3AD203B41FA5}">
                      <a16:colId xmlns:a16="http://schemas.microsoft.com/office/drawing/2014/main" val="1502755564"/>
                    </a:ext>
                  </a:extLst>
                </a:gridCol>
                <a:gridCol w="672177">
                  <a:extLst>
                    <a:ext uri="{9D8B030D-6E8A-4147-A177-3AD203B41FA5}">
                      <a16:colId xmlns:a16="http://schemas.microsoft.com/office/drawing/2014/main" val="3491381203"/>
                    </a:ext>
                  </a:extLst>
                </a:gridCol>
                <a:gridCol w="672177">
                  <a:extLst>
                    <a:ext uri="{9D8B030D-6E8A-4147-A177-3AD203B41FA5}">
                      <a16:colId xmlns:a16="http://schemas.microsoft.com/office/drawing/2014/main" val="2625057624"/>
                    </a:ext>
                  </a:extLst>
                </a:gridCol>
                <a:gridCol w="672177">
                  <a:extLst>
                    <a:ext uri="{9D8B030D-6E8A-4147-A177-3AD203B41FA5}">
                      <a16:colId xmlns:a16="http://schemas.microsoft.com/office/drawing/2014/main" val="177391812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51686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600" dirty="0" smtClean="0"/>
                        <a:t>●</a:t>
                      </a:r>
                      <a:endParaRPr kumimoji="1" lang="ja-JP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2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212843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2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3600" dirty="0" smtClean="0"/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45736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799321"/>
                  </a:ext>
                </a:extLst>
              </a:tr>
            </a:tbl>
          </a:graphicData>
        </a:graphic>
      </p:graphicFrame>
      <p:sp>
        <p:nvSpPr>
          <p:cNvPr id="13" name="テキスト ボックス 12"/>
          <p:cNvSpPr txBox="1"/>
          <p:nvPr/>
        </p:nvSpPr>
        <p:spPr>
          <a:xfrm>
            <a:off x="8725209" y="3773402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 smtClean="0"/>
              <a:t>加算だからそのまま処理できる</a:t>
            </a:r>
            <a:endParaRPr kumimoji="1" lang="ja-JP" altLang="en-US" sz="1400" dirty="0"/>
          </a:p>
        </p:txBody>
      </p:sp>
      <p:sp>
        <p:nvSpPr>
          <p:cNvPr id="14" name="正方形/長方形 13"/>
          <p:cNvSpPr/>
          <p:nvPr/>
        </p:nvSpPr>
        <p:spPr>
          <a:xfrm>
            <a:off x="2748842" y="6039186"/>
            <a:ext cx="2309332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ja-JP" sz="1600" dirty="0" smtClean="0"/>
              <a:t>0       	… </a:t>
            </a:r>
            <a:r>
              <a:rPr lang="ja-JP" altLang="en-US" sz="1600" dirty="0"/>
              <a:t>空白</a:t>
            </a:r>
            <a:r>
              <a:rPr lang="ja-JP" altLang="en-US" sz="1600" dirty="0" smtClean="0"/>
              <a:t>マス</a:t>
            </a:r>
            <a:endParaRPr lang="en-US" altLang="ja-JP" sz="1600" dirty="0" smtClean="0"/>
          </a:p>
          <a:p>
            <a:r>
              <a:rPr lang="en-US" altLang="ja-JP" sz="1600" dirty="0" smtClean="0"/>
              <a:t> 1</a:t>
            </a:r>
            <a:r>
              <a:rPr lang="ja-JP" altLang="en-US" sz="1600" dirty="0" smtClean="0"/>
              <a:t>～</a:t>
            </a:r>
            <a:r>
              <a:rPr lang="en-US" altLang="ja-JP" sz="1600" dirty="0" smtClean="0"/>
              <a:t>7 	… </a:t>
            </a:r>
            <a:r>
              <a:rPr lang="ja-JP" altLang="en-US" sz="1600" dirty="0" smtClean="0"/>
              <a:t>数字</a:t>
            </a:r>
            <a:r>
              <a:rPr lang="en-US" altLang="ja-JP" sz="1600" dirty="0" smtClean="0"/>
              <a:t>1</a:t>
            </a:r>
            <a:r>
              <a:rPr lang="ja-JP" altLang="en-US" sz="1600" dirty="0" smtClean="0"/>
              <a:t>～</a:t>
            </a:r>
            <a:r>
              <a:rPr lang="en-US" altLang="ja-JP" sz="1600" dirty="0" smtClean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25330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57600" y="381559"/>
            <a:ext cx="117502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b="1" dirty="0" smtClean="0"/>
              <a:t>【</a:t>
            </a:r>
            <a:r>
              <a:rPr lang="ja-JP" altLang="en-US" b="1" dirty="0" smtClean="0"/>
              <a:t>最初のクリックで、数字が書かれているマスまで全て自動でめくられるようにする</a:t>
            </a:r>
            <a:r>
              <a:rPr lang="en-US" altLang="ja-JP" b="1" dirty="0" smtClean="0"/>
              <a:t>】</a:t>
            </a:r>
          </a:p>
          <a:p>
            <a:r>
              <a:rPr lang="ja-JP" altLang="en-US" dirty="0" smtClean="0"/>
              <a:t>マインスイーパーをやったことがある人なら分かりますが要するに、</a:t>
            </a:r>
            <a:endParaRPr lang="en-US" altLang="ja-JP" dirty="0" smtClean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69" y="1159251"/>
            <a:ext cx="4930295" cy="4561675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867" y="1159251"/>
            <a:ext cx="4930295" cy="4561675"/>
          </a:xfrm>
          <a:prstGeom prst="rect">
            <a:avLst/>
          </a:prstGeom>
        </p:spPr>
      </p:pic>
      <p:sp>
        <p:nvSpPr>
          <p:cNvPr id="5" name="右矢印 4"/>
          <p:cNvSpPr/>
          <p:nvPr/>
        </p:nvSpPr>
        <p:spPr>
          <a:xfrm>
            <a:off x="5795267" y="3143996"/>
            <a:ext cx="505097" cy="592183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右矢印 5"/>
          <p:cNvSpPr/>
          <p:nvPr/>
        </p:nvSpPr>
        <p:spPr>
          <a:xfrm rot="13630353">
            <a:off x="8019524" y="3417039"/>
            <a:ext cx="303248" cy="178760"/>
          </a:xfrm>
          <a:prstGeom prst="rightArrow">
            <a:avLst>
              <a:gd name="adj1" fmla="val 21479"/>
              <a:gd name="adj2" fmla="val 1146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右矢印 6"/>
          <p:cNvSpPr/>
          <p:nvPr/>
        </p:nvSpPr>
        <p:spPr>
          <a:xfrm rot="13630353">
            <a:off x="2327385" y="3415686"/>
            <a:ext cx="303248" cy="178760"/>
          </a:xfrm>
          <a:prstGeom prst="rightArrow">
            <a:avLst>
              <a:gd name="adj1" fmla="val 21479"/>
              <a:gd name="adj2" fmla="val 1146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2380217" y="3736179"/>
            <a:ext cx="1780938" cy="1903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solidFill>
                  <a:sysClr val="windowText" lastClr="000000"/>
                </a:solidFill>
              </a:rPr>
              <a:t>ここをクリックしたら</a:t>
            </a:r>
            <a:endParaRPr kumimoji="1" lang="ja-JP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7559675" y="2864394"/>
            <a:ext cx="2453640" cy="2484120"/>
          </a:xfrm>
          <a:prstGeom prst="roundRect">
            <a:avLst>
              <a:gd name="adj" fmla="val 6729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9131537" y="2278113"/>
            <a:ext cx="2085738" cy="5077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 smtClean="0">
                <a:solidFill>
                  <a:sysClr val="windowText" lastClr="000000"/>
                </a:solidFill>
              </a:rPr>
              <a:t>ここまで自動でめくられるようにしたい</a:t>
            </a:r>
            <a:endParaRPr kumimoji="1" lang="ja-JP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57600" y="5863734"/>
            <a:ext cx="113382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/>
              <a:t>これをするには、</a:t>
            </a:r>
            <a:r>
              <a:rPr lang="en-US" altLang="ja-JP" dirty="0"/>
              <a:t>8</a:t>
            </a:r>
            <a:r>
              <a:rPr lang="ja-JP" altLang="en-US" dirty="0"/>
              <a:t>方向を順番</a:t>
            </a:r>
            <a:r>
              <a:rPr lang="ja-JP" altLang="en-US" dirty="0" smtClean="0"/>
              <a:t>に探索し、</a:t>
            </a:r>
            <a:r>
              <a:rPr lang="ja-JP" altLang="en-US" dirty="0"/>
              <a:t>数字のマスが出てくるまで処理をループさせる必要があり、ここで</a:t>
            </a:r>
            <a:endParaRPr lang="en-US" altLang="ja-JP" dirty="0"/>
          </a:p>
          <a:p>
            <a:r>
              <a:rPr lang="ja-JP" altLang="en-US" dirty="0"/>
              <a:t>出てくるのが</a:t>
            </a:r>
            <a:r>
              <a:rPr lang="ja-JP" altLang="en-US" dirty="0">
                <a:solidFill>
                  <a:srgbClr val="FF0000"/>
                </a:solidFill>
              </a:rPr>
              <a:t>再起関数</a:t>
            </a:r>
            <a:r>
              <a:rPr lang="en-US" altLang="ja-JP" dirty="0">
                <a:solidFill>
                  <a:srgbClr val="FF0000"/>
                </a:solidFill>
              </a:rPr>
              <a:t>(</a:t>
            </a:r>
            <a:r>
              <a:rPr lang="ja-JP" altLang="en-US" dirty="0">
                <a:solidFill>
                  <a:srgbClr val="FF0000"/>
                </a:solidFill>
              </a:rPr>
              <a:t>自分自身を呼び出す関数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ja-JP" altLang="en-US" dirty="0"/>
              <a:t>です。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7061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70300" y="348539"/>
            <a:ext cx="117502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u="sng" dirty="0" smtClean="0"/>
              <a:t>再起関数を使ってやること</a:t>
            </a:r>
            <a:endParaRPr lang="en-US" altLang="ja-JP" b="1" u="sng" dirty="0" smtClean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 rotWithShape="1">
          <a:blip r:embed="rId2"/>
          <a:srcRect l="18745" t="26756" r="22603" b="29267"/>
          <a:stretch/>
        </p:blipFill>
        <p:spPr>
          <a:xfrm>
            <a:off x="366094" y="796835"/>
            <a:ext cx="3308923" cy="2295525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1286418" y="2082779"/>
            <a:ext cx="285751" cy="28098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右矢印 3"/>
          <p:cNvSpPr/>
          <p:nvPr/>
        </p:nvSpPr>
        <p:spPr>
          <a:xfrm rot="13630353">
            <a:off x="1412894" y="2247286"/>
            <a:ext cx="303248" cy="178760"/>
          </a:xfrm>
          <a:prstGeom prst="rightArrow">
            <a:avLst>
              <a:gd name="adj1" fmla="val 21479"/>
              <a:gd name="adj2" fmla="val 1146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角丸四角形 4"/>
          <p:cNvSpPr/>
          <p:nvPr/>
        </p:nvSpPr>
        <p:spPr>
          <a:xfrm>
            <a:off x="1472093" y="2508628"/>
            <a:ext cx="1631696" cy="4822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 smtClean="0">
                <a:solidFill>
                  <a:sysClr val="windowText" lastClr="000000"/>
                </a:solidFill>
              </a:rPr>
              <a:t>クリックした位置がここだとする</a:t>
            </a:r>
            <a:endParaRPr kumimoji="1" lang="ja-JP" altLang="en-US" sz="1200" dirty="0">
              <a:solidFill>
                <a:sysClr val="windowText" lastClr="000000"/>
              </a:solidFill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 rotWithShape="1">
          <a:blip r:embed="rId2"/>
          <a:srcRect l="18745" t="26756" r="22473" b="29267"/>
          <a:stretch/>
        </p:blipFill>
        <p:spPr>
          <a:xfrm>
            <a:off x="3950086" y="796834"/>
            <a:ext cx="3316245" cy="2295525"/>
          </a:xfrm>
          <a:prstGeom prst="rect">
            <a:avLst/>
          </a:prstGeom>
        </p:spPr>
      </p:pic>
      <p:sp>
        <p:nvSpPr>
          <p:cNvPr id="8" name="正方形/長方形 7"/>
          <p:cNvSpPr/>
          <p:nvPr/>
        </p:nvSpPr>
        <p:spPr>
          <a:xfrm>
            <a:off x="4865649" y="2082778"/>
            <a:ext cx="290513" cy="280986"/>
          </a:xfrm>
          <a:prstGeom prst="rect">
            <a:avLst/>
          </a:prstGeom>
          <a:noFill/>
          <a:ln w="28575" cap="flat" cmpd="sng" algn="ctr">
            <a:solidFill>
              <a:srgbClr val="FF858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右矢印 8"/>
          <p:cNvSpPr/>
          <p:nvPr/>
        </p:nvSpPr>
        <p:spPr>
          <a:xfrm rot="13630353">
            <a:off x="4996886" y="2247285"/>
            <a:ext cx="303248" cy="178760"/>
          </a:xfrm>
          <a:prstGeom prst="rightArrow">
            <a:avLst>
              <a:gd name="adj1" fmla="val 21479"/>
              <a:gd name="adj2" fmla="val 1146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4525679" y="2522824"/>
            <a:ext cx="2928790" cy="4822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ysClr val="windowText" lastClr="000000"/>
                </a:solidFill>
              </a:rPr>
              <a:t>9</a:t>
            </a:r>
            <a:r>
              <a:rPr lang="ja-JP" altLang="en-US" sz="1200" dirty="0" smtClean="0">
                <a:solidFill>
                  <a:sysClr val="windowText" lastClr="000000"/>
                </a:solidFill>
              </a:rPr>
              <a:t>マスループを使い、左上から調べる</a:t>
            </a:r>
            <a:endParaRPr lang="en-US" altLang="ja-JP" sz="1200" dirty="0" smtClean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sz="1200" dirty="0" smtClean="0">
                <a:solidFill>
                  <a:sysClr val="windowText" lastClr="000000"/>
                </a:solidFill>
              </a:rPr>
              <a:t>今回は空白マスなので</a:t>
            </a:r>
            <a:r>
              <a:rPr lang="ja-JP" altLang="en-US" sz="1200" dirty="0" smtClean="0">
                <a:solidFill>
                  <a:sysClr val="windowText" lastClr="000000"/>
                </a:solidFill>
              </a:rPr>
              <a:t>めくられている</a:t>
            </a:r>
            <a:endParaRPr lang="en-US" altLang="ja-JP" sz="12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4590580" y="1806552"/>
            <a:ext cx="275069" cy="27622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上矢印 13"/>
          <p:cNvSpPr/>
          <p:nvPr/>
        </p:nvSpPr>
        <p:spPr>
          <a:xfrm rot="18862728">
            <a:off x="4815643" y="1909127"/>
            <a:ext cx="100012" cy="347301"/>
          </a:xfrm>
          <a:prstGeom prst="upArrow">
            <a:avLst>
              <a:gd name="adj1" fmla="val 26615"/>
              <a:gd name="adj2" fmla="val 9876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 rotWithShape="1">
          <a:blip r:embed="rId2"/>
          <a:srcRect l="18745" t="26756" r="22603" b="29267"/>
          <a:stretch/>
        </p:blipFill>
        <p:spPr>
          <a:xfrm>
            <a:off x="7676330" y="796834"/>
            <a:ext cx="3308924" cy="2295525"/>
          </a:xfrm>
          <a:prstGeom prst="rect">
            <a:avLst/>
          </a:prstGeom>
        </p:spPr>
      </p:pic>
      <p:sp>
        <p:nvSpPr>
          <p:cNvPr id="15" name="正方形/長方形 14"/>
          <p:cNvSpPr/>
          <p:nvPr/>
        </p:nvSpPr>
        <p:spPr>
          <a:xfrm>
            <a:off x="8309240" y="1797867"/>
            <a:ext cx="290513" cy="280986"/>
          </a:xfrm>
          <a:prstGeom prst="rect">
            <a:avLst/>
          </a:prstGeom>
          <a:noFill/>
          <a:ln w="28575" cap="flat" cmpd="sng" algn="ctr">
            <a:solidFill>
              <a:srgbClr val="FF858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右矢印 15"/>
          <p:cNvSpPr/>
          <p:nvPr/>
        </p:nvSpPr>
        <p:spPr>
          <a:xfrm rot="13630353">
            <a:off x="8728252" y="2239243"/>
            <a:ext cx="303248" cy="178760"/>
          </a:xfrm>
          <a:prstGeom prst="rightArrow">
            <a:avLst>
              <a:gd name="adj1" fmla="val 21479"/>
              <a:gd name="adj2" fmla="val 1146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8043340" y="1521641"/>
            <a:ext cx="275069" cy="27622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角丸四角形 18"/>
          <p:cNvSpPr/>
          <p:nvPr/>
        </p:nvSpPr>
        <p:spPr>
          <a:xfrm>
            <a:off x="9116741" y="2081698"/>
            <a:ext cx="2652981" cy="9091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 smtClean="0">
                <a:solidFill>
                  <a:sysClr val="windowText" lastClr="000000"/>
                </a:solidFill>
              </a:rPr>
              <a:t>数字のマスまでめくりたいので、</a:t>
            </a:r>
            <a:endParaRPr lang="en-US" altLang="ja-JP" sz="1200" dirty="0" smtClean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dirty="0" smtClean="0">
                <a:solidFill>
                  <a:sysClr val="windowText" lastClr="000000"/>
                </a:solidFill>
              </a:rPr>
              <a:t>めくれたマスが空白マスであれば</a:t>
            </a:r>
            <a:endParaRPr lang="en-US" altLang="ja-JP" sz="1200" dirty="0" smtClean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dirty="0" smtClean="0">
                <a:solidFill>
                  <a:sysClr val="windowText" lastClr="000000"/>
                </a:solidFill>
              </a:rPr>
              <a:t>さらにその先を調べる</a:t>
            </a:r>
            <a:endParaRPr lang="en-US" altLang="ja-JP" sz="1200" dirty="0" smtClean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200" dirty="0" smtClean="0">
                <a:solidFill>
                  <a:sysClr val="windowText" lastClr="000000"/>
                </a:solidFill>
              </a:rPr>
              <a:t>このときに、関数を再帰させる</a:t>
            </a:r>
            <a:endParaRPr lang="en-US" altLang="ja-JP" sz="12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270301" y="3248965"/>
            <a:ext cx="865598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b="1" dirty="0" smtClean="0"/>
              <a:t>for(9</a:t>
            </a:r>
            <a:r>
              <a:rPr lang="ja-JP" altLang="en-US" b="1" dirty="0" smtClean="0"/>
              <a:t>マスループ文を記述</a:t>
            </a:r>
            <a:r>
              <a:rPr lang="en-US" altLang="ja-JP" b="1" dirty="0" smtClean="0"/>
              <a:t>)</a:t>
            </a:r>
          </a:p>
          <a:p>
            <a:r>
              <a:rPr lang="en-US" altLang="ja-JP" b="1" dirty="0" smtClean="0"/>
              <a:t>{</a:t>
            </a:r>
          </a:p>
          <a:p>
            <a:r>
              <a:rPr lang="en-US" altLang="ja-JP" b="1" dirty="0" smtClean="0"/>
              <a:t>	if(</a:t>
            </a:r>
            <a:r>
              <a:rPr lang="ja-JP" altLang="en-US" b="1" dirty="0" smtClean="0"/>
              <a:t>このマス</a:t>
            </a:r>
            <a:r>
              <a:rPr lang="en-US" altLang="ja-JP" b="1" dirty="0" smtClean="0"/>
              <a:t>(</a:t>
            </a:r>
            <a:r>
              <a:rPr lang="ja-JP" altLang="en-US" b="1" dirty="0" smtClean="0"/>
              <a:t>初回ループは左上</a:t>
            </a:r>
            <a:r>
              <a:rPr lang="en-US" altLang="ja-JP" b="1" dirty="0" smtClean="0"/>
              <a:t>)</a:t>
            </a:r>
            <a:r>
              <a:rPr lang="ja-JP" altLang="en-US" b="1" dirty="0" smtClean="0"/>
              <a:t>が空白マスだったら</a:t>
            </a:r>
            <a:r>
              <a:rPr lang="en-US" altLang="ja-JP" b="1" dirty="0" smtClean="0"/>
              <a:t>)</a:t>
            </a:r>
          </a:p>
          <a:p>
            <a:r>
              <a:rPr lang="en-US" altLang="ja-JP" b="1" dirty="0"/>
              <a:t>	</a:t>
            </a:r>
            <a:r>
              <a:rPr lang="en-US" altLang="ja-JP" b="1" dirty="0" smtClean="0"/>
              <a:t>{</a:t>
            </a:r>
          </a:p>
          <a:p>
            <a:r>
              <a:rPr lang="en-US" altLang="ja-JP" b="1" dirty="0"/>
              <a:t>	</a:t>
            </a:r>
            <a:r>
              <a:rPr lang="en-US" altLang="ja-JP" b="1" dirty="0" smtClean="0"/>
              <a:t>	</a:t>
            </a:r>
            <a:r>
              <a:rPr lang="ja-JP" altLang="en-US" b="1" dirty="0" smtClean="0"/>
              <a:t>まずはこのマスをめくる、そして、</a:t>
            </a:r>
            <a:endParaRPr lang="en-US" altLang="ja-JP" b="1" dirty="0" smtClean="0"/>
          </a:p>
          <a:p>
            <a:r>
              <a:rPr lang="en-US" altLang="ja-JP" b="1" dirty="0"/>
              <a:t>	</a:t>
            </a:r>
            <a:r>
              <a:rPr lang="en-US" altLang="ja-JP" b="1" dirty="0" smtClean="0"/>
              <a:t>	</a:t>
            </a:r>
            <a:r>
              <a:rPr lang="ja-JP" altLang="en-US" b="1" dirty="0" smtClean="0">
                <a:solidFill>
                  <a:srgbClr val="FF0000"/>
                </a:solidFill>
              </a:rPr>
              <a:t>このマスを中心として、もう一度この関数を呼び出す</a:t>
            </a:r>
            <a:endParaRPr lang="en-US" altLang="ja-JP" b="1" dirty="0" smtClean="0">
              <a:solidFill>
                <a:srgbClr val="FF0000"/>
              </a:solidFill>
            </a:endParaRPr>
          </a:p>
          <a:p>
            <a:r>
              <a:rPr lang="en-US" altLang="ja-JP" b="1" dirty="0" smtClean="0"/>
              <a:t>	}</a:t>
            </a:r>
          </a:p>
          <a:p>
            <a:r>
              <a:rPr lang="en-US" altLang="ja-JP" b="1" dirty="0"/>
              <a:t>	</a:t>
            </a:r>
            <a:r>
              <a:rPr lang="en-US" altLang="ja-JP" b="1" dirty="0" smtClean="0"/>
              <a:t>else if(</a:t>
            </a:r>
            <a:r>
              <a:rPr lang="ja-JP" altLang="en-US" b="1" dirty="0" smtClean="0"/>
              <a:t>このマスが数字マスだったら</a:t>
            </a:r>
            <a:r>
              <a:rPr lang="en-US" altLang="ja-JP" b="1" dirty="0" smtClean="0"/>
              <a:t>)</a:t>
            </a:r>
          </a:p>
          <a:p>
            <a:r>
              <a:rPr lang="en-US" altLang="ja-JP" b="1" dirty="0" smtClean="0"/>
              <a:t>	{</a:t>
            </a:r>
          </a:p>
          <a:p>
            <a:r>
              <a:rPr lang="en-US" altLang="ja-JP" b="1" dirty="0"/>
              <a:t>	</a:t>
            </a:r>
            <a:r>
              <a:rPr lang="en-US" altLang="ja-JP" b="1" dirty="0" smtClean="0"/>
              <a:t>	</a:t>
            </a:r>
            <a:r>
              <a:rPr lang="ja-JP" altLang="en-US" b="1" dirty="0" smtClean="0"/>
              <a:t>これ以上は調べないので、このマスをめくるだけで処理は終わり</a:t>
            </a:r>
            <a:endParaRPr lang="en-US" altLang="ja-JP" b="1" dirty="0" smtClean="0"/>
          </a:p>
          <a:p>
            <a:r>
              <a:rPr lang="en-US" altLang="ja-JP" b="1" dirty="0"/>
              <a:t>	</a:t>
            </a:r>
            <a:r>
              <a:rPr lang="en-US" altLang="ja-JP" b="1" dirty="0" smtClean="0"/>
              <a:t>}</a:t>
            </a:r>
          </a:p>
          <a:p>
            <a:r>
              <a:rPr lang="en-US" altLang="ja-JP" b="1" dirty="0" smtClean="0"/>
              <a:t>}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8463665" y="3438680"/>
            <a:ext cx="3185487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この関数の作り方としては、</a:t>
            </a:r>
            <a:endParaRPr kumimoji="1" lang="en-US" altLang="ja-JP" dirty="0" smtClean="0"/>
          </a:p>
          <a:p>
            <a:r>
              <a:rPr lang="ja-JP" altLang="en-US" dirty="0"/>
              <a:t>戻り値</a:t>
            </a:r>
            <a:r>
              <a:rPr lang="ja-JP" altLang="en-US" dirty="0" smtClean="0"/>
              <a:t>は必要ないが、</a:t>
            </a:r>
            <a:r>
              <a:rPr lang="ja-JP" altLang="en-US" dirty="0" smtClean="0">
                <a:solidFill>
                  <a:srgbClr val="FF0000"/>
                </a:solidFill>
              </a:rPr>
              <a:t>どこを</a:t>
            </a:r>
            <a:endParaRPr lang="en-US" altLang="ja-JP" dirty="0" smtClean="0">
              <a:solidFill>
                <a:srgbClr val="FF0000"/>
              </a:solidFill>
            </a:endParaRPr>
          </a:p>
          <a:p>
            <a:r>
              <a:rPr kumimoji="1" lang="ja-JP" altLang="en-US" dirty="0" smtClean="0">
                <a:solidFill>
                  <a:srgbClr val="FF0000"/>
                </a:solidFill>
              </a:rPr>
              <a:t>中心とした</a:t>
            </a:r>
            <a:r>
              <a:rPr lang="ja-JP" altLang="en-US" dirty="0">
                <a:solidFill>
                  <a:srgbClr val="FF0000"/>
                </a:solidFill>
              </a:rPr>
              <a:t>９</a:t>
            </a:r>
            <a:r>
              <a:rPr kumimoji="1" lang="ja-JP" altLang="en-US" dirty="0" smtClean="0">
                <a:solidFill>
                  <a:srgbClr val="FF0000"/>
                </a:solidFill>
              </a:rPr>
              <a:t>マスかという情</a:t>
            </a:r>
            <a:endParaRPr kumimoji="1" lang="en-US" altLang="ja-JP" dirty="0" smtClean="0">
              <a:solidFill>
                <a:srgbClr val="FF0000"/>
              </a:solidFill>
            </a:endParaRPr>
          </a:p>
          <a:p>
            <a:r>
              <a:rPr kumimoji="1" lang="ja-JP" altLang="en-US" dirty="0" smtClean="0">
                <a:solidFill>
                  <a:srgbClr val="FF0000"/>
                </a:solidFill>
              </a:rPr>
              <a:t>報が必要</a:t>
            </a:r>
            <a:r>
              <a:rPr kumimoji="1" lang="ja-JP" altLang="en-US" dirty="0" smtClean="0"/>
              <a:t>になってくる。</a:t>
            </a:r>
            <a:endParaRPr kumimoji="1" lang="en-US" altLang="ja-JP" dirty="0" smtClean="0"/>
          </a:p>
          <a:p>
            <a:r>
              <a:rPr lang="ja-JP" altLang="en-US" dirty="0" smtClean="0"/>
              <a:t>つまり引数は必要。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4860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 rotWithShape="1">
          <a:blip r:embed="rId2"/>
          <a:srcRect l="18745" t="26756" r="3658" b="29267"/>
          <a:stretch/>
        </p:blipFill>
        <p:spPr>
          <a:xfrm>
            <a:off x="3344424" y="2111830"/>
            <a:ext cx="8386021" cy="4397370"/>
          </a:xfrm>
          <a:prstGeom prst="rect">
            <a:avLst/>
          </a:prstGeom>
        </p:spPr>
      </p:pic>
      <p:sp>
        <p:nvSpPr>
          <p:cNvPr id="9" name="正方形/長方形 8"/>
          <p:cNvSpPr/>
          <p:nvPr/>
        </p:nvSpPr>
        <p:spPr>
          <a:xfrm>
            <a:off x="3344425" y="2111830"/>
            <a:ext cx="8386020" cy="439737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270300" y="348539"/>
            <a:ext cx="117502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u="sng" dirty="0" smtClean="0"/>
              <a:t>マスを探索していく順番</a:t>
            </a:r>
            <a:endParaRPr lang="en-US" altLang="ja-JP" b="1" u="sng" dirty="0" smtClean="0"/>
          </a:p>
          <a:p>
            <a:r>
              <a:rPr lang="ja-JP" altLang="en-US" dirty="0"/>
              <a:t>↓</a:t>
            </a:r>
            <a:r>
              <a:rPr lang="ja-JP" altLang="en-US" dirty="0" smtClean="0"/>
              <a:t>のようにめくられたとしたら、探索の順番はこうなる</a:t>
            </a:r>
            <a:endParaRPr lang="en-US" altLang="ja-JP" dirty="0" smtClean="0"/>
          </a:p>
        </p:txBody>
      </p:sp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205679"/>
              </p:ext>
            </p:extLst>
          </p:nvPr>
        </p:nvGraphicFramePr>
        <p:xfrm>
          <a:off x="3491866" y="2434091"/>
          <a:ext cx="8091135" cy="37528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409">
                  <a:extLst>
                    <a:ext uri="{9D8B030D-6E8A-4147-A177-3AD203B41FA5}">
                      <a16:colId xmlns:a16="http://schemas.microsoft.com/office/drawing/2014/main" val="1215984349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1812429668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189439515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1400659105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1368410717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868427240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350407271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2511335367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324520575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2210700180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711915983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3562574506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4068156494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1833622711"/>
                    </a:ext>
                  </a:extLst>
                </a:gridCol>
                <a:gridCol w="539409">
                  <a:extLst>
                    <a:ext uri="{9D8B030D-6E8A-4147-A177-3AD203B41FA5}">
                      <a16:colId xmlns:a16="http://schemas.microsoft.com/office/drawing/2014/main" val="1345150812"/>
                    </a:ext>
                  </a:extLst>
                </a:gridCol>
              </a:tblGrid>
              <a:tr h="536121"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4"/>
                          </a:solidFill>
                        </a:rPr>
                        <a:t>23</a:t>
                      </a:r>
                      <a:endParaRPr lang="ja-JP" altLang="en-US" sz="2400" b="1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4"/>
                          </a:solidFill>
                        </a:rPr>
                        <a:t>24</a:t>
                      </a:r>
                      <a:endParaRPr lang="ja-JP" altLang="en-US" sz="2400" b="1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4"/>
                          </a:solidFill>
                        </a:rPr>
                        <a:t>25</a:t>
                      </a:r>
                      <a:endParaRPr lang="ja-JP" altLang="en-US" sz="2400" b="1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4"/>
                          </a:solidFill>
                        </a:rPr>
                        <a:t>27</a:t>
                      </a:r>
                      <a:endParaRPr lang="ja-JP" altLang="en-US" sz="2400" b="1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5753576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2"/>
                          </a:solidFill>
                        </a:rPr>
                        <a:t>14</a:t>
                      </a:r>
                      <a:endParaRPr lang="ja-JP" altLang="en-US" sz="24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2"/>
                          </a:solidFill>
                        </a:rPr>
                        <a:t>15</a:t>
                      </a:r>
                      <a:endParaRPr lang="ja-JP" altLang="en-US" sz="24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2"/>
                          </a:solidFill>
                        </a:rPr>
                        <a:t>16</a:t>
                      </a:r>
                      <a:endParaRPr lang="ja-JP" altLang="en-US" sz="24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2"/>
                          </a:solidFill>
                        </a:rPr>
                        <a:t>18</a:t>
                      </a:r>
                      <a:endParaRPr lang="ja-JP" altLang="en-US" sz="24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4"/>
                          </a:solidFill>
                        </a:rPr>
                        <a:t>20</a:t>
                      </a:r>
                      <a:endParaRPr lang="ja-JP" altLang="en-US" sz="2400" b="1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4"/>
                          </a:solidFill>
                        </a:rPr>
                        <a:t>22</a:t>
                      </a:r>
                      <a:endParaRPr lang="ja-JP" altLang="en-US" sz="2400" b="1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4"/>
                          </a:solidFill>
                        </a:rPr>
                        <a:t>26</a:t>
                      </a:r>
                      <a:endParaRPr lang="ja-JP" altLang="en-US" sz="2400" b="1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4"/>
                          </a:solidFill>
                        </a:rPr>
                        <a:t>28</a:t>
                      </a:r>
                      <a:endParaRPr lang="ja-JP" altLang="en-US" sz="2400" b="1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92D050"/>
                          </a:solidFill>
                        </a:rPr>
                        <a:t>32</a:t>
                      </a:r>
                      <a:endParaRPr lang="ja-JP" altLang="en-US" sz="2400" b="1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0753039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ja-JP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ja-JP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ja-JP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ja-JP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ja-JP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2"/>
                          </a:solidFill>
                        </a:rPr>
                        <a:t>11</a:t>
                      </a:r>
                      <a:endParaRPr lang="ja-JP" altLang="en-US" sz="24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2"/>
                          </a:solidFill>
                        </a:rPr>
                        <a:t>13</a:t>
                      </a:r>
                      <a:endParaRPr lang="ja-JP" altLang="en-US" sz="24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2"/>
                          </a:solidFill>
                        </a:rPr>
                        <a:t>17</a:t>
                      </a:r>
                      <a:endParaRPr lang="ja-JP" altLang="en-US" sz="24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2"/>
                          </a:solidFill>
                        </a:rPr>
                        <a:t>19</a:t>
                      </a:r>
                      <a:endParaRPr lang="ja-JP" altLang="en-US" sz="24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4"/>
                          </a:solidFill>
                        </a:rPr>
                        <a:t>21</a:t>
                      </a:r>
                      <a:endParaRPr lang="ja-JP" altLang="en-US" sz="2400" b="1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4"/>
                          </a:solidFill>
                        </a:rPr>
                        <a:t>29</a:t>
                      </a:r>
                      <a:endParaRPr lang="ja-JP" altLang="en-US" sz="2400" b="1" dirty="0">
                        <a:solidFill>
                          <a:schemeClr val="accent4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92D050"/>
                          </a:solidFill>
                        </a:rPr>
                        <a:t>30</a:t>
                      </a:r>
                      <a:endParaRPr lang="ja-JP" altLang="en-US" sz="2400" b="1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92D050"/>
                          </a:solidFill>
                        </a:rPr>
                        <a:t>31</a:t>
                      </a:r>
                      <a:endParaRPr lang="ja-JP" altLang="en-US" sz="2400" b="1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92D050"/>
                          </a:solidFill>
                        </a:rPr>
                        <a:t>33</a:t>
                      </a:r>
                      <a:endParaRPr lang="ja-JP" altLang="en-US" sz="2400" b="1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6409525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ja-JP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ja-JP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ja-JP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ja-JP" alt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2"/>
                          </a:solidFill>
                        </a:rPr>
                        <a:t>10</a:t>
                      </a:r>
                      <a:endParaRPr lang="ja-JP" altLang="en-US" sz="24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2"/>
                          </a:solidFill>
                        </a:rPr>
                        <a:t>12</a:t>
                      </a:r>
                      <a:endParaRPr lang="ja-JP" altLang="en-US" sz="24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00B0F0"/>
                          </a:solidFill>
                        </a:rPr>
                        <a:t>40</a:t>
                      </a:r>
                      <a:endParaRPr lang="ja-JP" altLang="en-US" sz="2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92D050"/>
                          </a:solidFill>
                        </a:rPr>
                        <a:t>39</a:t>
                      </a:r>
                      <a:endParaRPr lang="ja-JP" altLang="en-US" sz="2400" b="1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92D050"/>
                          </a:solidFill>
                        </a:rPr>
                        <a:t>38</a:t>
                      </a:r>
                      <a:endParaRPr lang="ja-JP" altLang="en-US" sz="2400" b="1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56</a:t>
                      </a:r>
                      <a:endParaRPr lang="ja-JP" alt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92D050"/>
                          </a:solidFill>
                        </a:rPr>
                        <a:t>37</a:t>
                      </a:r>
                      <a:endParaRPr lang="ja-JP" altLang="en-US" sz="2400" b="1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92D050"/>
                          </a:solidFill>
                        </a:rPr>
                        <a:t>34</a:t>
                      </a:r>
                      <a:endParaRPr lang="ja-JP" altLang="en-US" sz="2400" b="1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92D050"/>
                          </a:solidFill>
                        </a:rPr>
                        <a:t>35</a:t>
                      </a:r>
                      <a:endParaRPr lang="ja-JP" altLang="en-US" sz="2400" b="1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92D050"/>
                          </a:solidFill>
                        </a:rPr>
                        <a:t>36</a:t>
                      </a:r>
                      <a:endParaRPr lang="ja-JP" altLang="en-US" sz="2400" b="1" dirty="0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2058808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00B0F0"/>
                          </a:solidFill>
                        </a:rPr>
                        <a:t>46</a:t>
                      </a:r>
                      <a:endParaRPr lang="ja-JP" altLang="en-US" sz="2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00B0F0"/>
                          </a:solidFill>
                        </a:rPr>
                        <a:t>45</a:t>
                      </a:r>
                      <a:endParaRPr lang="ja-JP" altLang="en-US" sz="2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00B0F0"/>
                          </a:solidFill>
                        </a:rPr>
                        <a:t>44</a:t>
                      </a:r>
                      <a:endParaRPr lang="ja-JP" altLang="en-US" sz="2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00B0F0"/>
                          </a:solidFill>
                        </a:rPr>
                        <a:t>43</a:t>
                      </a:r>
                      <a:endParaRPr lang="ja-JP" altLang="en-US" sz="2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00B0F0"/>
                          </a:solidFill>
                        </a:rPr>
                        <a:t>42</a:t>
                      </a:r>
                      <a:endParaRPr lang="ja-JP" altLang="en-US" sz="2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00B0F0"/>
                          </a:solidFill>
                        </a:rPr>
                        <a:t>41</a:t>
                      </a:r>
                      <a:endParaRPr lang="ja-JP" altLang="en-US" sz="2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53</a:t>
                      </a:r>
                      <a:endParaRPr lang="ja-JP" alt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54</a:t>
                      </a:r>
                      <a:endParaRPr lang="ja-JP" alt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55</a:t>
                      </a:r>
                      <a:endParaRPr lang="ja-JP" alt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57</a:t>
                      </a:r>
                      <a:endParaRPr lang="ja-JP" alt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3893555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00B0F0"/>
                          </a:solidFill>
                        </a:rPr>
                        <a:t>47</a:t>
                      </a:r>
                      <a:endParaRPr lang="ja-JP" altLang="en-US" sz="2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00B0F0"/>
                          </a:solidFill>
                        </a:rPr>
                        <a:t>48</a:t>
                      </a:r>
                      <a:endParaRPr lang="ja-JP" altLang="en-US" sz="2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00B0F0"/>
                          </a:solidFill>
                        </a:rPr>
                        <a:t>49</a:t>
                      </a:r>
                      <a:endParaRPr lang="ja-JP" altLang="en-US" sz="24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50</a:t>
                      </a:r>
                      <a:endParaRPr lang="ja-JP" alt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51</a:t>
                      </a:r>
                      <a:endParaRPr lang="ja-JP" alt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52</a:t>
                      </a:r>
                      <a:endParaRPr lang="ja-JP" alt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7030A0"/>
                          </a:solidFill>
                        </a:rPr>
                        <a:t>61</a:t>
                      </a:r>
                      <a:endParaRPr lang="ja-JP" altLang="en-US" sz="24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58</a:t>
                      </a:r>
                      <a:endParaRPr lang="ja-JP" alt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59</a:t>
                      </a:r>
                      <a:endParaRPr lang="ja-JP" altLang="en-US" sz="2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7030A0"/>
                          </a:solidFill>
                        </a:rPr>
                        <a:t>60</a:t>
                      </a:r>
                      <a:endParaRPr lang="ja-JP" altLang="en-US" sz="24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9567886"/>
                  </a:ext>
                </a:extLst>
              </a:tr>
              <a:tr h="536121"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7030A0"/>
                          </a:solidFill>
                        </a:rPr>
                        <a:t>68</a:t>
                      </a:r>
                      <a:endParaRPr lang="ja-JP" altLang="en-US" sz="24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7030A0"/>
                          </a:solidFill>
                        </a:rPr>
                        <a:t>67</a:t>
                      </a:r>
                      <a:endParaRPr lang="ja-JP" altLang="en-US" sz="24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7030A0"/>
                          </a:solidFill>
                        </a:rPr>
                        <a:t>66</a:t>
                      </a:r>
                      <a:endParaRPr lang="ja-JP" altLang="en-US" sz="24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7030A0"/>
                          </a:solidFill>
                        </a:rPr>
                        <a:t>65</a:t>
                      </a:r>
                      <a:endParaRPr lang="ja-JP" altLang="en-US" sz="24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7030A0"/>
                          </a:solidFill>
                        </a:rPr>
                        <a:t>62</a:t>
                      </a:r>
                      <a:endParaRPr lang="ja-JP" altLang="en-US" sz="24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7030A0"/>
                          </a:solidFill>
                        </a:rPr>
                        <a:t>63</a:t>
                      </a:r>
                      <a:endParaRPr lang="ja-JP" altLang="en-US" sz="24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b="1" dirty="0" smtClean="0">
                          <a:solidFill>
                            <a:srgbClr val="7030A0"/>
                          </a:solidFill>
                        </a:rPr>
                        <a:t>64</a:t>
                      </a:r>
                      <a:endParaRPr lang="ja-JP" altLang="en-US" sz="24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3702334"/>
                  </a:ext>
                </a:extLst>
              </a:tr>
            </a:tbl>
          </a:graphicData>
        </a:graphic>
      </p:graphicFrame>
      <p:graphicFrame>
        <p:nvGraphicFramePr>
          <p:cNvPr id="17" name="表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264189"/>
              </p:ext>
            </p:extLst>
          </p:nvPr>
        </p:nvGraphicFramePr>
        <p:xfrm>
          <a:off x="2154672" y="3913320"/>
          <a:ext cx="1042308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2308">
                  <a:extLst>
                    <a:ext uri="{9D8B030D-6E8A-4147-A177-3AD203B41FA5}">
                      <a16:colId xmlns:a16="http://schemas.microsoft.com/office/drawing/2014/main" val="1046943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kumimoji="1" lang="ja-JP" altLang="en-US" b="1" dirty="0" smtClean="0">
                          <a:solidFill>
                            <a:srgbClr val="FF0000"/>
                          </a:solidFill>
                        </a:rPr>
                        <a:t>～</a:t>
                      </a:r>
                      <a:r>
                        <a:rPr kumimoji="1" lang="en-US" altLang="ja-JP" b="1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kumimoji="1" lang="ja-JP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419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smtClean="0">
                          <a:solidFill>
                            <a:schemeClr val="accent2"/>
                          </a:solidFill>
                        </a:rPr>
                        <a:t>10</a:t>
                      </a:r>
                      <a:r>
                        <a:rPr kumimoji="1" lang="ja-JP" altLang="en-US" b="1" dirty="0" smtClean="0">
                          <a:solidFill>
                            <a:schemeClr val="accent2"/>
                          </a:solidFill>
                        </a:rPr>
                        <a:t>～</a:t>
                      </a:r>
                      <a:r>
                        <a:rPr kumimoji="1" lang="en-US" altLang="ja-JP" b="1" dirty="0" smtClean="0">
                          <a:solidFill>
                            <a:schemeClr val="accent2"/>
                          </a:solidFill>
                        </a:rPr>
                        <a:t>19</a:t>
                      </a:r>
                      <a:endParaRPr kumimoji="1" lang="ja-JP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113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smtClean="0">
                          <a:solidFill>
                            <a:schemeClr val="accent4"/>
                          </a:solidFill>
                        </a:rPr>
                        <a:t>20</a:t>
                      </a:r>
                      <a:r>
                        <a:rPr kumimoji="1" lang="ja-JP" altLang="en-US" b="1" dirty="0" smtClean="0">
                          <a:solidFill>
                            <a:schemeClr val="accent4"/>
                          </a:solidFill>
                        </a:rPr>
                        <a:t>～</a:t>
                      </a:r>
                      <a:r>
                        <a:rPr kumimoji="1" lang="en-US" altLang="ja-JP" b="1" dirty="0" smtClean="0">
                          <a:solidFill>
                            <a:schemeClr val="accent4"/>
                          </a:solidFill>
                        </a:rPr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883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smtClean="0">
                          <a:solidFill>
                            <a:srgbClr val="92D050"/>
                          </a:solidFill>
                        </a:rPr>
                        <a:t>30</a:t>
                      </a:r>
                      <a:r>
                        <a:rPr kumimoji="1" lang="ja-JP" altLang="en-US" b="1" dirty="0" smtClean="0">
                          <a:solidFill>
                            <a:srgbClr val="92D050"/>
                          </a:solidFill>
                        </a:rPr>
                        <a:t>～</a:t>
                      </a:r>
                      <a:r>
                        <a:rPr kumimoji="1" lang="en-US" altLang="ja-JP" b="1" dirty="0" smtClean="0">
                          <a:solidFill>
                            <a:srgbClr val="92D050"/>
                          </a:solidFill>
                        </a:rPr>
                        <a:t>39</a:t>
                      </a:r>
                      <a:endParaRPr kumimoji="1" lang="ja-JP" altLang="en-US" b="1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67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smtClean="0">
                          <a:solidFill>
                            <a:srgbClr val="00B0F0"/>
                          </a:solidFill>
                        </a:rPr>
                        <a:t>40</a:t>
                      </a:r>
                      <a:r>
                        <a:rPr kumimoji="1" lang="ja-JP" altLang="en-US" b="1" dirty="0" smtClean="0">
                          <a:solidFill>
                            <a:srgbClr val="00B0F0"/>
                          </a:solidFill>
                        </a:rPr>
                        <a:t>～</a:t>
                      </a:r>
                      <a:r>
                        <a:rPr kumimoji="1" lang="en-US" altLang="ja-JP" b="1" dirty="0" smtClean="0">
                          <a:solidFill>
                            <a:srgbClr val="00B0F0"/>
                          </a:solidFill>
                        </a:rPr>
                        <a:t>49</a:t>
                      </a:r>
                      <a:endParaRPr kumimoji="1" lang="ja-JP" altLang="en-U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50</a:t>
                      </a:r>
                      <a:r>
                        <a:rPr kumimoji="1" lang="ja-JP" altLang="en-US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～</a:t>
                      </a:r>
                      <a:r>
                        <a:rPr kumimoji="1" lang="en-US" altLang="ja-JP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59</a:t>
                      </a:r>
                      <a:endParaRPr kumimoji="1" lang="ja-JP" altLang="en-US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37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smtClean="0">
                          <a:solidFill>
                            <a:srgbClr val="7030A0"/>
                          </a:solidFill>
                        </a:rPr>
                        <a:t>60</a:t>
                      </a:r>
                      <a:r>
                        <a:rPr kumimoji="1" lang="ja-JP" altLang="en-US" b="1" dirty="0" smtClean="0">
                          <a:solidFill>
                            <a:srgbClr val="7030A0"/>
                          </a:solidFill>
                        </a:rPr>
                        <a:t>～</a:t>
                      </a:r>
                      <a:r>
                        <a:rPr kumimoji="1" lang="en-US" altLang="ja-JP" b="1" dirty="0" smtClean="0">
                          <a:solidFill>
                            <a:srgbClr val="7030A0"/>
                          </a:solidFill>
                        </a:rPr>
                        <a:t>69</a:t>
                      </a:r>
                      <a:endParaRPr kumimoji="1" lang="ja-JP" altLang="en-US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008528"/>
                  </a:ext>
                </a:extLst>
              </a:tr>
            </a:tbl>
          </a:graphicData>
        </a:graphic>
      </p:graphicFrame>
      <p:pic>
        <p:nvPicPr>
          <p:cNvPr id="18" name="図 17"/>
          <p:cNvPicPr>
            <a:picLocks noChangeAspect="1"/>
          </p:cNvPicPr>
          <p:nvPr/>
        </p:nvPicPr>
        <p:blipFill rotWithShape="1">
          <a:blip r:embed="rId2"/>
          <a:srcRect l="18745" t="26756" r="3658" b="29267"/>
          <a:stretch/>
        </p:blipFill>
        <p:spPr>
          <a:xfrm>
            <a:off x="351636" y="1017183"/>
            <a:ext cx="2740269" cy="1436912"/>
          </a:xfrm>
          <a:prstGeom prst="rect">
            <a:avLst/>
          </a:prstGeom>
        </p:spPr>
      </p:pic>
      <p:sp>
        <p:nvSpPr>
          <p:cNvPr id="20" name="正方形/長方形 19"/>
          <p:cNvSpPr/>
          <p:nvPr/>
        </p:nvSpPr>
        <p:spPr>
          <a:xfrm>
            <a:off x="931069" y="1821656"/>
            <a:ext cx="169069" cy="169069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右矢印 18"/>
          <p:cNvSpPr/>
          <p:nvPr/>
        </p:nvSpPr>
        <p:spPr>
          <a:xfrm rot="13630353">
            <a:off x="996949" y="1950432"/>
            <a:ext cx="202231" cy="103869"/>
          </a:xfrm>
          <a:prstGeom prst="rightArrow">
            <a:avLst>
              <a:gd name="adj1" fmla="val 21479"/>
              <a:gd name="adj2" fmla="val 1146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角丸四角形 20"/>
          <p:cNvSpPr/>
          <p:nvPr/>
        </p:nvSpPr>
        <p:spPr>
          <a:xfrm>
            <a:off x="991237" y="2111830"/>
            <a:ext cx="1516832" cy="1785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 smtClean="0">
                <a:solidFill>
                  <a:sysClr val="windowText" lastClr="000000"/>
                </a:solidFill>
              </a:rPr>
              <a:t>最初のクリック場所</a:t>
            </a:r>
            <a:endParaRPr kumimoji="1" lang="ja-JP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3" name="曲折矢印 22"/>
          <p:cNvSpPr/>
          <p:nvPr/>
        </p:nvSpPr>
        <p:spPr>
          <a:xfrm rot="5400000">
            <a:off x="3281888" y="1232223"/>
            <a:ext cx="722812" cy="892629"/>
          </a:xfrm>
          <a:prstGeom prst="bentArrow">
            <a:avLst>
              <a:gd name="adj1" fmla="val 25000"/>
              <a:gd name="adj2" fmla="val 28614"/>
              <a:gd name="adj3" fmla="val 33434"/>
              <a:gd name="adj4" fmla="val 4375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33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/>
          <p:cNvPicPr>
            <a:picLocks noChangeAspect="1"/>
          </p:cNvPicPr>
          <p:nvPr/>
        </p:nvPicPr>
        <p:blipFill rotWithShape="1">
          <a:blip r:embed="rId2"/>
          <a:srcRect l="16979" t="26872" r="27475" b="29328"/>
          <a:stretch/>
        </p:blipFill>
        <p:spPr>
          <a:xfrm>
            <a:off x="383178" y="757646"/>
            <a:ext cx="3936273" cy="2871746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/>
        </p:nvPicPr>
        <p:blipFill rotWithShape="1">
          <a:blip r:embed="rId3"/>
          <a:srcRect l="30020" t="46005" r="64856" b="48457"/>
          <a:stretch/>
        </p:blipFill>
        <p:spPr>
          <a:xfrm>
            <a:off x="1291861" y="1997121"/>
            <a:ext cx="383177" cy="383178"/>
          </a:xfrm>
          <a:prstGeom prst="rect">
            <a:avLst/>
          </a:prstGeom>
        </p:spPr>
      </p:pic>
      <p:sp>
        <p:nvSpPr>
          <p:cNvPr id="33" name="正方形/長方形 32"/>
          <p:cNvSpPr/>
          <p:nvPr/>
        </p:nvSpPr>
        <p:spPr>
          <a:xfrm>
            <a:off x="383178" y="757646"/>
            <a:ext cx="3936273" cy="287174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306809"/>
              </p:ext>
            </p:extLst>
          </p:nvPr>
        </p:nvGraphicFramePr>
        <p:xfrm>
          <a:off x="595318" y="950459"/>
          <a:ext cx="3890953" cy="2476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3723">
                  <a:extLst>
                    <a:ext uri="{9D8B030D-6E8A-4147-A177-3AD203B41FA5}">
                      <a16:colId xmlns:a16="http://schemas.microsoft.com/office/drawing/2014/main" val="1215984349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812429668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8943951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40065910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368410717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868427240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50407271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2511335367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2452057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2210700180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562574506"/>
                    </a:ext>
                  </a:extLst>
                </a:gridCol>
              </a:tblGrid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5753576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14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15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16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18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0753039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11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13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17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19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640952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10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12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40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92D050"/>
                          </a:solidFill>
                        </a:rPr>
                        <a:t>39</a:t>
                      </a:r>
                      <a:endParaRPr lang="ja-JP" altLang="en-US" sz="1800" b="1" dirty="0">
                        <a:solidFill>
                          <a:srgbClr val="92D05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92D050"/>
                          </a:solidFill>
                        </a:rPr>
                        <a:t>38</a:t>
                      </a:r>
                      <a:endParaRPr lang="ja-JP" altLang="en-US" sz="1800" b="1" dirty="0">
                        <a:solidFill>
                          <a:srgbClr val="92D05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2058808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46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45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44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43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42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41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53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54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55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389355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47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48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49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50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51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52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61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58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59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9567886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68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67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66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65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62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63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64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3702334"/>
                  </a:ext>
                </a:extLst>
              </a:tr>
            </a:tbl>
          </a:graphicData>
        </a:graphic>
      </p:graphicFrame>
      <p:sp>
        <p:nvSpPr>
          <p:cNvPr id="15" name="右矢印 14"/>
          <p:cNvSpPr/>
          <p:nvPr/>
        </p:nvSpPr>
        <p:spPr>
          <a:xfrm rot="13630353">
            <a:off x="1898221" y="2669790"/>
            <a:ext cx="233454" cy="127398"/>
          </a:xfrm>
          <a:prstGeom prst="rightArrow">
            <a:avLst>
              <a:gd name="adj1" fmla="val 21479"/>
              <a:gd name="adj2" fmla="val 1146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720227" y="1395774"/>
            <a:ext cx="71096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最初のクリック位置が</a:t>
            </a:r>
            <a:r>
              <a:rPr lang="en-US" altLang="ja-JP" dirty="0" smtClean="0"/>
              <a:t>『44』</a:t>
            </a:r>
            <a:r>
              <a:rPr lang="ja-JP" altLang="en-US" dirty="0" smtClean="0"/>
              <a:t>の部分なので、赤枠で囲まれた</a:t>
            </a:r>
            <a:r>
              <a:rPr lang="en-US" altLang="ja-JP" dirty="0" smtClean="0"/>
              <a:t>9</a:t>
            </a:r>
            <a:r>
              <a:rPr lang="ja-JP" altLang="en-US" dirty="0" smtClean="0"/>
              <a:t>マス</a:t>
            </a:r>
            <a:endParaRPr lang="en-US" altLang="ja-JP" dirty="0" smtClean="0"/>
          </a:p>
          <a:p>
            <a:r>
              <a:rPr lang="ja-JP" altLang="en-US" dirty="0" smtClean="0"/>
              <a:t>が最初の探索範囲になる。</a:t>
            </a:r>
            <a:endParaRPr lang="en-US" altLang="ja-JP" dirty="0" smtClean="0"/>
          </a:p>
          <a:p>
            <a:r>
              <a:rPr kumimoji="1" lang="ja-JP" altLang="en-US" dirty="0" smtClean="0"/>
              <a:t>まず</a:t>
            </a:r>
            <a:r>
              <a:rPr kumimoji="1" lang="en-US" altLang="ja-JP" dirty="0" smtClean="0"/>
              <a:t>『1』</a:t>
            </a:r>
            <a:r>
              <a:rPr kumimoji="1" lang="ja-JP" altLang="en-US" dirty="0" smtClean="0"/>
              <a:t>のマスを調べ、空白マスだということがわかった。</a:t>
            </a:r>
            <a:endParaRPr kumimoji="1" lang="en-US" altLang="ja-JP" dirty="0" smtClean="0"/>
          </a:p>
          <a:p>
            <a:r>
              <a:rPr lang="ja-JP" altLang="en-US" dirty="0"/>
              <a:t>数字のマス</a:t>
            </a:r>
            <a:r>
              <a:rPr lang="ja-JP" altLang="en-US" dirty="0" smtClean="0"/>
              <a:t>までめくらなければならないので、まださらに先のマス</a:t>
            </a:r>
            <a:endParaRPr lang="en-US" altLang="ja-JP" dirty="0" smtClean="0"/>
          </a:p>
          <a:p>
            <a:r>
              <a:rPr kumimoji="1" lang="ja-JP" altLang="en-US" dirty="0" smtClean="0"/>
              <a:t>を探索したい。</a:t>
            </a:r>
            <a:endParaRPr kumimoji="1" lang="en-US" altLang="ja-JP" dirty="0" smtClean="0"/>
          </a:p>
          <a:p>
            <a:r>
              <a:rPr lang="ja-JP" altLang="en-US" dirty="0" err="1" smtClean="0"/>
              <a:t>なので</a:t>
            </a:r>
            <a:r>
              <a:rPr lang="ja-JP" altLang="en-US" dirty="0" smtClean="0"/>
              <a:t>次は、</a:t>
            </a:r>
            <a:r>
              <a:rPr lang="en-US" altLang="ja-JP" dirty="0" smtClean="0"/>
              <a:t>『1』</a:t>
            </a:r>
            <a:r>
              <a:rPr lang="ja-JP" altLang="en-US" dirty="0" smtClean="0"/>
              <a:t>を中心とした</a:t>
            </a:r>
            <a:r>
              <a:rPr lang="en-US" altLang="ja-JP" dirty="0" smtClean="0"/>
              <a:t>9</a:t>
            </a:r>
            <a:r>
              <a:rPr lang="ja-JP" altLang="en-US" dirty="0" smtClean="0"/>
              <a:t>マスを探索範囲とする。</a:t>
            </a:r>
            <a:endParaRPr kumimoji="1" lang="ja-JP" altLang="en-US" dirty="0"/>
          </a:p>
        </p:txBody>
      </p:sp>
      <p:sp>
        <p:nvSpPr>
          <p:cNvPr id="21" name="正方形/長方形 20"/>
          <p:cNvSpPr/>
          <p:nvPr/>
        </p:nvSpPr>
        <p:spPr>
          <a:xfrm>
            <a:off x="270300" y="296288"/>
            <a:ext cx="117502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u="sng" dirty="0"/>
              <a:t>順</a:t>
            </a:r>
            <a:r>
              <a:rPr lang="ja-JP" altLang="en-US" b="1" u="sng" dirty="0" smtClean="0"/>
              <a:t>を追って説明</a:t>
            </a:r>
            <a:endParaRPr lang="en-US" altLang="ja-JP" b="1" u="sng" dirty="0" smtClean="0"/>
          </a:p>
        </p:txBody>
      </p:sp>
      <p:pic>
        <p:nvPicPr>
          <p:cNvPr id="27" name="図 26"/>
          <p:cNvPicPr>
            <a:picLocks noChangeAspect="1"/>
          </p:cNvPicPr>
          <p:nvPr/>
        </p:nvPicPr>
        <p:blipFill rotWithShape="1">
          <a:blip r:embed="rId2"/>
          <a:srcRect l="16979" t="26872" r="27475" b="29328"/>
          <a:stretch/>
        </p:blipFill>
        <p:spPr>
          <a:xfrm>
            <a:off x="383178" y="3721418"/>
            <a:ext cx="3936273" cy="2871746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 rotWithShape="1">
          <a:blip r:embed="rId3"/>
          <a:srcRect l="25269" t="40797" r="69890" b="54019"/>
          <a:stretch/>
        </p:blipFill>
        <p:spPr>
          <a:xfrm>
            <a:off x="936624" y="4600575"/>
            <a:ext cx="361951" cy="358775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 rotWithShape="1">
          <a:blip r:embed="rId3"/>
          <a:srcRect l="30020" t="46005" r="64856" b="48457"/>
          <a:stretch/>
        </p:blipFill>
        <p:spPr>
          <a:xfrm>
            <a:off x="1291861" y="4960893"/>
            <a:ext cx="383177" cy="383178"/>
          </a:xfrm>
          <a:prstGeom prst="rect">
            <a:avLst/>
          </a:prstGeom>
        </p:spPr>
      </p:pic>
      <p:sp>
        <p:nvSpPr>
          <p:cNvPr id="34" name="正方形/長方形 33"/>
          <p:cNvSpPr/>
          <p:nvPr/>
        </p:nvSpPr>
        <p:spPr>
          <a:xfrm>
            <a:off x="383178" y="3711800"/>
            <a:ext cx="3936273" cy="287174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4720227" y="4359546"/>
            <a:ext cx="700704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『1』</a:t>
            </a:r>
            <a:r>
              <a:rPr kumimoji="1" lang="ja-JP" altLang="en-US" dirty="0" smtClean="0"/>
              <a:t>の左上から探索が始まるので、</a:t>
            </a:r>
            <a:r>
              <a:rPr kumimoji="1" lang="en-US" altLang="ja-JP" dirty="0" smtClean="0"/>
              <a:t>『2』</a:t>
            </a:r>
            <a:r>
              <a:rPr kumimoji="1" lang="ja-JP" altLang="en-US" dirty="0" smtClean="0"/>
              <a:t>のマスから調べる。</a:t>
            </a:r>
            <a:endParaRPr kumimoji="1" lang="en-US" altLang="ja-JP" dirty="0" smtClean="0"/>
          </a:p>
          <a:p>
            <a:r>
              <a:rPr lang="en-US" altLang="ja-JP" dirty="0" smtClean="0"/>
              <a:t>『2』</a:t>
            </a:r>
            <a:r>
              <a:rPr lang="ja-JP" altLang="en-US" dirty="0" smtClean="0"/>
              <a:t>のマスは数字マスだったので、これより先のマスは調べる必</a:t>
            </a:r>
            <a:endParaRPr lang="en-US" altLang="ja-JP" dirty="0" smtClean="0"/>
          </a:p>
          <a:p>
            <a:r>
              <a:rPr lang="ja-JP" altLang="en-US" dirty="0" smtClean="0"/>
              <a:t>要はない。よって、</a:t>
            </a:r>
            <a:r>
              <a:rPr lang="en-US" altLang="ja-JP" dirty="0" smtClean="0"/>
              <a:t>『2』</a:t>
            </a:r>
            <a:r>
              <a:rPr lang="ja-JP" altLang="en-US" dirty="0" smtClean="0"/>
              <a:t>のマスを中心とした探索は行わない。</a:t>
            </a:r>
            <a:endParaRPr lang="en-US" altLang="ja-JP" dirty="0" smtClean="0"/>
          </a:p>
          <a:p>
            <a:r>
              <a:rPr lang="ja-JP" altLang="en-US" dirty="0"/>
              <a:t>すると</a:t>
            </a:r>
            <a:r>
              <a:rPr lang="ja-JP" altLang="en-US" dirty="0" smtClean="0"/>
              <a:t>まだ</a:t>
            </a:r>
            <a:r>
              <a:rPr lang="en-US" altLang="ja-JP" dirty="0" smtClean="0"/>
              <a:t>『1』</a:t>
            </a:r>
            <a:r>
              <a:rPr lang="ja-JP" altLang="en-US" dirty="0" smtClean="0"/>
              <a:t>を中心とした探索が続くことになるので、次に探</a:t>
            </a:r>
            <a:endParaRPr lang="en-US" altLang="ja-JP" dirty="0" smtClean="0"/>
          </a:p>
          <a:p>
            <a:r>
              <a:rPr lang="ja-JP" altLang="en-US" dirty="0" smtClean="0"/>
              <a:t>索するマスは</a:t>
            </a:r>
            <a:r>
              <a:rPr lang="en-US" altLang="ja-JP" dirty="0" smtClean="0"/>
              <a:t>『3』</a:t>
            </a:r>
            <a:r>
              <a:rPr lang="ja-JP" altLang="en-US" dirty="0" smtClean="0"/>
              <a:t>のマスとなる。</a:t>
            </a:r>
            <a:endParaRPr lang="en-US" altLang="ja-JP" dirty="0" smtClean="0"/>
          </a:p>
        </p:txBody>
      </p:sp>
      <p:graphicFrame>
        <p:nvGraphicFramePr>
          <p:cNvPr id="29" name="表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520244"/>
              </p:ext>
            </p:extLst>
          </p:nvPr>
        </p:nvGraphicFramePr>
        <p:xfrm>
          <a:off x="595318" y="3914231"/>
          <a:ext cx="3890953" cy="2476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3723">
                  <a:extLst>
                    <a:ext uri="{9D8B030D-6E8A-4147-A177-3AD203B41FA5}">
                      <a16:colId xmlns:a16="http://schemas.microsoft.com/office/drawing/2014/main" val="1215984349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812429668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8943951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40065910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368410717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868427240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50407271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2511335367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2452057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2210700180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562574506"/>
                    </a:ext>
                  </a:extLst>
                </a:gridCol>
              </a:tblGrid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5753576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14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15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16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18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0753039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11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13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17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19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640952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10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12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40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92D050"/>
                          </a:solidFill>
                        </a:rPr>
                        <a:t>39</a:t>
                      </a:r>
                      <a:endParaRPr lang="ja-JP" altLang="en-US" sz="1800" b="1" dirty="0">
                        <a:solidFill>
                          <a:srgbClr val="92D05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92D050"/>
                          </a:solidFill>
                        </a:rPr>
                        <a:t>38</a:t>
                      </a:r>
                      <a:endParaRPr lang="ja-JP" altLang="en-US" sz="1800" b="1" dirty="0">
                        <a:solidFill>
                          <a:srgbClr val="92D05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2058808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46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45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44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43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42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41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53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54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55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389355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47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48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49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50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51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52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61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58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59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9567886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68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67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66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65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62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63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64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3702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916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/>
          <p:cNvPicPr>
            <a:picLocks noChangeAspect="1"/>
          </p:cNvPicPr>
          <p:nvPr/>
        </p:nvPicPr>
        <p:blipFill rotWithShape="1">
          <a:blip r:embed="rId2"/>
          <a:srcRect l="16979" t="26872" r="27475" b="29328"/>
          <a:stretch/>
        </p:blipFill>
        <p:spPr>
          <a:xfrm>
            <a:off x="383178" y="3634335"/>
            <a:ext cx="3936273" cy="2871746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 rotWithShape="1">
          <a:blip r:embed="rId2"/>
          <a:srcRect l="16979" t="26872" r="27475" b="29328"/>
          <a:stretch/>
        </p:blipFill>
        <p:spPr>
          <a:xfrm>
            <a:off x="383178" y="635726"/>
            <a:ext cx="3936273" cy="2871746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 rotWithShape="1">
          <a:blip r:embed="rId3"/>
          <a:srcRect l="25269" t="40796" r="60038" b="48722"/>
          <a:stretch/>
        </p:blipFill>
        <p:spPr>
          <a:xfrm>
            <a:off x="944492" y="1524180"/>
            <a:ext cx="1074808" cy="709750"/>
          </a:xfrm>
          <a:prstGeom prst="rect">
            <a:avLst/>
          </a:prstGeom>
        </p:spPr>
      </p:pic>
      <p:sp>
        <p:nvSpPr>
          <p:cNvPr id="34" name="正方形/長方形 33"/>
          <p:cNvSpPr/>
          <p:nvPr/>
        </p:nvSpPr>
        <p:spPr>
          <a:xfrm>
            <a:off x="383178" y="626108"/>
            <a:ext cx="3936273" cy="287174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図 19"/>
          <p:cNvPicPr>
            <a:picLocks noChangeAspect="1"/>
          </p:cNvPicPr>
          <p:nvPr/>
        </p:nvPicPr>
        <p:blipFill rotWithShape="1">
          <a:blip r:embed="rId3"/>
          <a:srcRect l="25269" t="40796" r="55090" b="48673"/>
          <a:stretch/>
        </p:blipFill>
        <p:spPr>
          <a:xfrm>
            <a:off x="944492" y="4522789"/>
            <a:ext cx="1436758" cy="713104"/>
          </a:xfrm>
          <a:prstGeom prst="rect">
            <a:avLst/>
          </a:prstGeom>
        </p:spPr>
      </p:pic>
      <p:sp>
        <p:nvSpPr>
          <p:cNvPr id="22" name="正方形/長方形 21"/>
          <p:cNvSpPr/>
          <p:nvPr/>
        </p:nvSpPr>
        <p:spPr>
          <a:xfrm>
            <a:off x="383178" y="3624717"/>
            <a:ext cx="3936273" cy="287174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767852" y="1055936"/>
            <a:ext cx="69044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『3』</a:t>
            </a:r>
            <a:r>
              <a:rPr kumimoji="1" lang="ja-JP" altLang="en-US" dirty="0" smtClean="0"/>
              <a:t>のマスは数字マスだったので、まだ</a:t>
            </a:r>
            <a:r>
              <a:rPr kumimoji="1" lang="en-US" altLang="ja-JP" dirty="0" smtClean="0"/>
              <a:t>『1』</a:t>
            </a:r>
            <a:r>
              <a:rPr lang="ja-JP" altLang="en-US" dirty="0" smtClean="0"/>
              <a:t>を中心とした探索</a:t>
            </a:r>
            <a:endParaRPr lang="en-US" altLang="ja-JP" dirty="0" smtClean="0"/>
          </a:p>
          <a:p>
            <a:r>
              <a:rPr kumimoji="1" lang="ja-JP" altLang="en-US" dirty="0" smtClean="0"/>
              <a:t>が続く。次の</a:t>
            </a:r>
            <a:r>
              <a:rPr kumimoji="1" lang="en-US" altLang="ja-JP" dirty="0" smtClean="0"/>
              <a:t>『4』</a:t>
            </a:r>
            <a:r>
              <a:rPr lang="ja-JP" altLang="en-US" dirty="0" smtClean="0"/>
              <a:t>のマスも、行が変わって</a:t>
            </a:r>
            <a:r>
              <a:rPr lang="en-US" altLang="ja-JP" dirty="0" smtClean="0"/>
              <a:t>『5』</a:t>
            </a:r>
            <a:r>
              <a:rPr lang="ja-JP" altLang="en-US" dirty="0" smtClean="0"/>
              <a:t>のマスも数字マ</a:t>
            </a:r>
            <a:endParaRPr lang="en-US" altLang="ja-JP" dirty="0" smtClean="0"/>
          </a:p>
          <a:p>
            <a:r>
              <a:rPr lang="ja-JP" altLang="en-US" dirty="0" smtClean="0"/>
              <a:t>スである。</a:t>
            </a:r>
            <a:r>
              <a:rPr lang="en-US" altLang="ja-JP" dirty="0" smtClean="0"/>
              <a:t>『1』</a:t>
            </a:r>
            <a:r>
              <a:rPr lang="ja-JP" altLang="en-US" dirty="0" smtClean="0"/>
              <a:t>はすでにめくれているので飛ばして</a:t>
            </a:r>
            <a:r>
              <a:rPr lang="en-US" altLang="ja-JP" dirty="0" smtClean="0"/>
              <a:t>『6』</a:t>
            </a:r>
            <a:r>
              <a:rPr lang="ja-JP" altLang="en-US" dirty="0" smtClean="0"/>
              <a:t>のマス</a:t>
            </a:r>
            <a:endParaRPr lang="en-US" altLang="ja-JP" dirty="0" smtClean="0"/>
          </a:p>
          <a:p>
            <a:r>
              <a:rPr kumimoji="1" lang="ja-JP" altLang="en-US" dirty="0" smtClean="0"/>
              <a:t>を見ると、空白マスだった。</a:t>
            </a:r>
            <a:endParaRPr kumimoji="1" lang="en-US" altLang="ja-JP" dirty="0" smtClean="0"/>
          </a:p>
          <a:p>
            <a:r>
              <a:rPr lang="ja-JP" altLang="en-US" dirty="0"/>
              <a:t>する</a:t>
            </a:r>
            <a:r>
              <a:rPr lang="ja-JP" altLang="en-US" dirty="0" smtClean="0"/>
              <a:t>と次は</a:t>
            </a:r>
            <a:r>
              <a:rPr lang="en-US" altLang="ja-JP" dirty="0" smtClean="0"/>
              <a:t>『6』</a:t>
            </a:r>
            <a:r>
              <a:rPr lang="ja-JP" altLang="en-US" dirty="0" smtClean="0"/>
              <a:t>のマスを中心とした</a:t>
            </a:r>
            <a:r>
              <a:rPr lang="en-US" altLang="ja-JP" dirty="0" smtClean="0"/>
              <a:t>9</a:t>
            </a:r>
            <a:r>
              <a:rPr lang="ja-JP" altLang="en-US" dirty="0" smtClean="0"/>
              <a:t>マス探索になる。</a:t>
            </a:r>
            <a:endParaRPr lang="en-US" altLang="ja-JP" dirty="0" smtClean="0"/>
          </a:p>
          <a:p>
            <a:r>
              <a:rPr kumimoji="1" lang="ja-JP" altLang="en-US" dirty="0" smtClean="0"/>
              <a:t>この処理を繰り返すことによって、数字マスまでの全てのマスが</a:t>
            </a:r>
            <a:endParaRPr kumimoji="1" lang="en-US" altLang="ja-JP" dirty="0" smtClean="0"/>
          </a:p>
          <a:p>
            <a:r>
              <a:rPr lang="ja-JP" altLang="en-US" dirty="0" smtClean="0"/>
              <a:t>めくられることになる。</a:t>
            </a:r>
            <a:endParaRPr kumimoji="1" lang="ja-JP" altLang="en-US" dirty="0"/>
          </a:p>
        </p:txBody>
      </p:sp>
      <p:graphicFrame>
        <p:nvGraphicFramePr>
          <p:cNvPr id="29" name="表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355748"/>
              </p:ext>
            </p:extLst>
          </p:nvPr>
        </p:nvGraphicFramePr>
        <p:xfrm>
          <a:off x="595318" y="828539"/>
          <a:ext cx="3890953" cy="2476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3723">
                  <a:extLst>
                    <a:ext uri="{9D8B030D-6E8A-4147-A177-3AD203B41FA5}">
                      <a16:colId xmlns:a16="http://schemas.microsoft.com/office/drawing/2014/main" val="1215984349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812429668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8943951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40065910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368410717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868427240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50407271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2511335367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2452057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2210700180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562574506"/>
                    </a:ext>
                  </a:extLst>
                </a:gridCol>
              </a:tblGrid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5753576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14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15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16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18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0753039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11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13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17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19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640952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10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12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40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92D050"/>
                          </a:solidFill>
                        </a:rPr>
                        <a:t>39</a:t>
                      </a:r>
                      <a:endParaRPr lang="ja-JP" altLang="en-US" sz="1800" b="1" dirty="0">
                        <a:solidFill>
                          <a:srgbClr val="92D05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92D050"/>
                          </a:solidFill>
                        </a:rPr>
                        <a:t>38</a:t>
                      </a:r>
                      <a:endParaRPr lang="ja-JP" altLang="en-US" sz="1800" b="1" dirty="0">
                        <a:solidFill>
                          <a:srgbClr val="92D05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2058808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46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45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44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43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42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41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53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54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55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389355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47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48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49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50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51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52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61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58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59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9567886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68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67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66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65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62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63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64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3702334"/>
                  </a:ext>
                </a:extLst>
              </a:tr>
            </a:tbl>
          </a:graphicData>
        </a:graphic>
      </p:graphicFrame>
      <p:sp>
        <p:nvSpPr>
          <p:cNvPr id="18" name="テキスト ボックス 17"/>
          <p:cNvSpPr txBox="1"/>
          <p:nvPr/>
        </p:nvSpPr>
        <p:spPr>
          <a:xfrm>
            <a:off x="5062804" y="4556175"/>
            <a:ext cx="6314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すでにめくられているマスは飛ばして</a:t>
            </a:r>
            <a:r>
              <a:rPr kumimoji="1" lang="en-US" altLang="ja-JP" dirty="0" smtClean="0"/>
              <a:t>OK</a:t>
            </a:r>
            <a:r>
              <a:rPr kumimoji="1" lang="ja-JP" altLang="en-US" dirty="0" err="1" smtClean="0"/>
              <a:t>。</a:t>
            </a:r>
            <a:endParaRPr kumimoji="1" lang="en-US" altLang="ja-JP" dirty="0" smtClean="0"/>
          </a:p>
          <a:p>
            <a:r>
              <a:rPr kumimoji="1" lang="en-US" altLang="ja-JP" dirty="0" smtClean="0"/>
              <a:t>8</a:t>
            </a:r>
            <a:r>
              <a:rPr kumimoji="1" lang="ja-JP" altLang="en-US" dirty="0" smtClean="0"/>
              <a:t>ページ目の画像を見て、数字通りめくれるか考えてみてね</a:t>
            </a:r>
            <a:endParaRPr kumimoji="1" lang="en-US" altLang="ja-JP" dirty="0" smtClean="0"/>
          </a:p>
        </p:txBody>
      </p:sp>
      <p:graphicFrame>
        <p:nvGraphicFramePr>
          <p:cNvPr id="23" name="表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898809"/>
              </p:ext>
            </p:extLst>
          </p:nvPr>
        </p:nvGraphicFramePr>
        <p:xfrm>
          <a:off x="595318" y="3827148"/>
          <a:ext cx="3890953" cy="2476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3723">
                  <a:extLst>
                    <a:ext uri="{9D8B030D-6E8A-4147-A177-3AD203B41FA5}">
                      <a16:colId xmlns:a16="http://schemas.microsoft.com/office/drawing/2014/main" val="1215984349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812429668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8943951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40065910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1368410717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868427240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50407271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2511335367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24520575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2210700180"/>
                    </a:ext>
                  </a:extLst>
                </a:gridCol>
                <a:gridCol w="353723">
                  <a:extLst>
                    <a:ext uri="{9D8B030D-6E8A-4147-A177-3AD203B41FA5}">
                      <a16:colId xmlns:a16="http://schemas.microsoft.com/office/drawing/2014/main" val="3562574506"/>
                    </a:ext>
                  </a:extLst>
                </a:gridCol>
              </a:tblGrid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5753576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14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15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16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18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0753039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11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13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17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19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640952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ja-JP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10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2"/>
                          </a:solidFill>
                        </a:rPr>
                        <a:t>12</a:t>
                      </a:r>
                      <a:endParaRPr lang="ja-JP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40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92D050"/>
                          </a:solidFill>
                        </a:rPr>
                        <a:t>39</a:t>
                      </a:r>
                      <a:endParaRPr lang="ja-JP" altLang="en-US" sz="1800" b="1" dirty="0">
                        <a:solidFill>
                          <a:srgbClr val="92D05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92D050"/>
                          </a:solidFill>
                        </a:rPr>
                        <a:t>38</a:t>
                      </a:r>
                      <a:endParaRPr lang="ja-JP" altLang="en-US" sz="1800" b="1" dirty="0">
                        <a:solidFill>
                          <a:srgbClr val="92D05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2058808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46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45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44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43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42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41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53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54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55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389355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47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48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00B0F0"/>
                          </a:solidFill>
                        </a:rPr>
                        <a:t>49</a:t>
                      </a:r>
                      <a:endParaRPr lang="ja-JP" altLang="en-US" sz="1800" b="1" dirty="0">
                        <a:solidFill>
                          <a:srgbClr val="00B0F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50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51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52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61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58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59</a:t>
                      </a:r>
                      <a:endParaRPr lang="ja-JP" altLang="en-US" sz="18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9567886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68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67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66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65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62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63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800" b="1" dirty="0" smtClean="0">
                          <a:solidFill>
                            <a:srgbClr val="7030A0"/>
                          </a:solidFill>
                        </a:rPr>
                        <a:t>64</a:t>
                      </a:r>
                      <a:endParaRPr lang="ja-JP" altLang="en-US" sz="1800" b="1" dirty="0">
                        <a:solidFill>
                          <a:srgbClr val="7030A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8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ja-JP" altLang="en-US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3702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148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1567</Words>
  <Application>Microsoft Office PowerPoint</Application>
  <PresentationFormat>ワイド画面</PresentationFormat>
  <Paragraphs>546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Teacher</dc:creator>
  <cp:lastModifiedBy>Teacher</cp:lastModifiedBy>
  <cp:revision>81</cp:revision>
  <dcterms:created xsi:type="dcterms:W3CDTF">2025-07-14T01:37:36Z</dcterms:created>
  <dcterms:modified xsi:type="dcterms:W3CDTF">2025-12-15T00:53:39Z</dcterms:modified>
</cp:coreProperties>
</file>